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92024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800" b="1">
                <a:solidFill>
                  <a:srgbClr val="0F172A"/>
                </a:solidFill>
                <a:latin typeface="PingFang SC"/>
              </a:rPr>
              <a:t>Apache Camel 入门 0 →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926080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0">
                <a:solidFill>
                  <a:srgbClr val="64748B"/>
                </a:solidFill>
                <a:latin typeface="PingFang SC"/>
              </a:rPr>
              <a:t>用 Spring XML DSL 从一条路由讲到一套完整的企业集成编排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886200"/>
            <a:ext cx="102412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150" b="0">
                <a:solidFill>
                  <a:srgbClr val="334155"/>
                </a:solidFill>
                <a:latin typeface="Menlo"/>
              </a:rPr>
              <a:t>Spring Boot  3.5.14      Spring Cloud  2025.0.2</a:t>
            </a:r>
          </a:p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150" b="0">
                <a:solidFill>
                  <a:srgbClr val="334155"/>
                </a:solidFill>
                <a:latin typeface="Menlo"/>
              </a:rPr>
              <a:t>Camel        4.18.2      JDK           21</a:t>
            </a:r>
          </a:p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150" b="0">
                <a:solidFill>
                  <a:srgbClr val="334155"/>
                </a:solidFill>
                <a:latin typeface="Menlo"/>
              </a:rPr>
              <a:t>装配入口     @ImportResource("classpath:camel-context.xml")</a:t>
            </a:r>
          </a:p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150" b="0">
                <a:solidFill>
                  <a:srgbClr val="334155"/>
                </a:solidFill>
                <a:latin typeface="Menlo"/>
              </a:rPr>
              <a:t>示例工程     camel-session-0to1 · 16 条路由 · 6 个可运行 API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691B6"/>
                </a:solidFill>
                <a:latin typeface="PingFang SC"/>
              </a:rPr>
              <a:t>速查导航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0F172A"/>
                </a:solidFill>
                <a:latin typeface="PingFang SC"/>
              </a:rPr>
              <a:t>这份手册怎么用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07007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PingFang SC"/>
              </a:rPr>
              <a:t>前半部分按 API 递进，后半部分是查得最多的速查表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1371600" cy="41148"/>
          </a:xfrm>
          <a:prstGeom prst="rect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2484882" cy="3383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691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2484882" cy="457200"/>
          </a:xfrm>
          <a:prstGeom prst="rect">
            <a:avLst/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1892807"/>
            <a:ext cx="21922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0691B6"/>
                </a:solidFill>
                <a:latin typeface="PingFang SC"/>
              </a:rPr>
              <a:t>一、打底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395728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64748B"/>
                </a:solidFill>
                <a:latin typeface="Menlo"/>
              </a:rPr>
              <a:t>P3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8448" y="2395728"/>
            <a:ext cx="166192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PingFang SC"/>
              </a:rPr>
              <a:t>学习路线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2711196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64748B"/>
                </a:solidFill>
                <a:latin typeface="Menlo"/>
              </a:rPr>
              <a:t>P4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2711196"/>
            <a:ext cx="166192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PingFang SC"/>
              </a:rPr>
              <a:t>六个核心名词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3026663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64748B"/>
                </a:solidFill>
                <a:latin typeface="Menlo"/>
              </a:rPr>
              <a:t>P5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3026663"/>
            <a:ext cx="166192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PingFang SC"/>
              </a:rPr>
              <a:t>Exchange 消息模型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3342131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64748B"/>
                </a:solidFill>
                <a:latin typeface="Menlo"/>
              </a:rPr>
              <a:t>P6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98448" y="3342131"/>
            <a:ext cx="166192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PingFang SC"/>
              </a:rPr>
              <a:t>项目结构导航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1" y="3657599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64748B"/>
                </a:solidFill>
                <a:latin typeface="Menlo"/>
              </a:rPr>
              <a:t>P7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3657599"/>
            <a:ext cx="166192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PingFang SC"/>
              </a:rPr>
              <a:t>@ImportResource 装配链路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54146" y="1783080"/>
            <a:ext cx="2484882" cy="3383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54146" y="1783080"/>
            <a:ext cx="2484882" cy="457200"/>
          </a:xfrm>
          <a:prstGeom prst="rect">
            <a:avLst/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00450" y="1892807"/>
            <a:ext cx="21922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6D28D9"/>
                </a:solidFill>
                <a:latin typeface="PingFang SC"/>
              </a:rPr>
              <a:t>二、按 API 递进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18738" y="2395728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64748B"/>
                </a:solidFill>
                <a:latin typeface="Menlo"/>
              </a:rPr>
              <a:t>P8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2513" y="2395728"/>
            <a:ext cx="166192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PingFang SC"/>
              </a:rPr>
              <a:t>REST DSL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18738" y="2711196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64748B"/>
                </a:solidFill>
                <a:latin typeface="Menlo"/>
              </a:rPr>
              <a:t>P9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2513" y="2711196"/>
            <a:ext cx="166192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PingFang SC"/>
              </a:rPr>
              <a:t>API-1 基础链路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18738" y="3026663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64748B"/>
                </a:solidFill>
                <a:latin typeface="Menlo"/>
              </a:rPr>
              <a:t>P10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2513" y="3026663"/>
            <a:ext cx="166192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PingFang SC"/>
              </a:rPr>
              <a:t>API-2 条件分支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18738" y="3342131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64748B"/>
                </a:solidFill>
                <a:latin typeface="Menlo"/>
              </a:rPr>
              <a:t>P11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2513" y="3342131"/>
            <a:ext cx="166192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PingFang SC"/>
              </a:rPr>
              <a:t>filter vs choice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18738" y="3657599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64748B"/>
                </a:solidFill>
                <a:latin typeface="Menlo"/>
              </a:rPr>
              <a:t>P13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2513" y="3657599"/>
            <a:ext cx="166192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PingFang SC"/>
              </a:rPr>
              <a:t>API-3 ProducerTemplate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18738" y="3973067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64748B"/>
                </a:solidFill>
                <a:latin typeface="Menlo"/>
              </a:rPr>
              <a:t>P14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2513" y="3973067"/>
            <a:ext cx="166192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PingFang SC"/>
              </a:rPr>
              <a:t>API-4 并行聚合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18738" y="4288535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64748B"/>
                </a:solidFill>
                <a:latin typeface="Menlo"/>
              </a:rPr>
              <a:t>P15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2513" y="4288535"/>
            <a:ext cx="166192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PingFang SC"/>
              </a:rPr>
              <a:t>API-5 拆分/旁路/动态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68212" y="1783080"/>
            <a:ext cx="2484882" cy="3383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268212" y="1783080"/>
            <a:ext cx="2484882" cy="45720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14516" y="1892807"/>
            <a:ext cx="21922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B45309"/>
                </a:solidFill>
                <a:latin typeface="PingFang SC"/>
              </a:rPr>
              <a:t>三、速查表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32803" y="2395728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64748B"/>
                </a:solidFill>
                <a:latin typeface="Menlo"/>
              </a:rPr>
              <a:t>P12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26579" y="2395728"/>
            <a:ext cx="166192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PingFang SC"/>
              </a:rPr>
              <a:t>Simple 表达式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32803" y="2711196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64748B"/>
                </a:solidFill>
                <a:latin typeface="Menlo"/>
              </a:rPr>
              <a:t>P16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26579" y="2711196"/>
            <a:ext cx="166192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PingFang SC"/>
              </a:rPr>
              <a:t>四个一变多 EIP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32803" y="3026663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64748B"/>
                </a:solidFill>
                <a:latin typeface="Menlo"/>
              </a:rPr>
              <a:t>P17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26579" y="3026663"/>
            <a:ext cx="166192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PingFang SC"/>
              </a:rPr>
              <a:t>Endpoint URI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32803" y="3342131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64748B"/>
                </a:solidFill>
                <a:latin typeface="Menlo"/>
              </a:rPr>
              <a:t>P18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26579" y="3342131"/>
            <a:ext cx="166192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PingFang SC"/>
              </a:rPr>
              <a:t>Camel 内置 Header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32803" y="3657599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64748B"/>
                </a:solidFill>
                <a:latin typeface="Menlo"/>
              </a:rPr>
              <a:t>P23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26579" y="3657599"/>
            <a:ext cx="166192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PingFang SC"/>
              </a:rPr>
              <a:t>Java DSL 对照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32803" y="3973067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64748B"/>
                </a:solidFill>
                <a:latin typeface="Menlo"/>
              </a:rPr>
              <a:t>P25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26579" y="3973067"/>
            <a:ext cx="166192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PingFang SC"/>
              </a:rPr>
              <a:t>全部标签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082277" y="1783080"/>
            <a:ext cx="2484882" cy="3383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082277" y="1783080"/>
            <a:ext cx="2484882" cy="457200"/>
          </a:xfrm>
          <a:prstGeom prst="rect">
            <a:avLst/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228581" y="1892807"/>
            <a:ext cx="21922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059669"/>
                </a:solidFill>
                <a:latin typeface="PingFang SC"/>
              </a:rPr>
              <a:t>四、工程实践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46869" y="2395728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64748B"/>
                </a:solidFill>
                <a:latin typeface="Menlo"/>
              </a:rPr>
              <a:t>P19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740645" y="2395728"/>
            <a:ext cx="166192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PingFang SC"/>
              </a:rPr>
              <a:t>API-6 综合编排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246869" y="2711196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64748B"/>
                </a:solidFill>
                <a:latin typeface="Menlo"/>
              </a:rPr>
              <a:t>P20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740645" y="2711196"/>
            <a:ext cx="166192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PingFang SC"/>
              </a:rPr>
              <a:t>两条分支同构响应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246869" y="3026663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64748B"/>
                </a:solidFill>
                <a:latin typeface="Menlo"/>
              </a:rPr>
              <a:t>P21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740645" y="3026663"/>
            <a:ext cx="166192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PingFang SC"/>
              </a:rPr>
              <a:t>错误处理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246869" y="3342131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64748B"/>
                </a:solidFill>
                <a:latin typeface="Menlo"/>
              </a:rPr>
              <a:t>P22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740645" y="3342131"/>
            <a:ext cx="166192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PingFang SC"/>
              </a:rPr>
              <a:t>日志与追踪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246869" y="3657599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64748B"/>
                </a:solidFill>
                <a:latin typeface="Menlo"/>
              </a:rPr>
              <a:t>P24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740645" y="3657599"/>
            <a:ext cx="166192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PingFang SC"/>
              </a:rPr>
              <a:t>测试与验证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246869" y="3973067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64748B"/>
                </a:solidFill>
                <a:latin typeface="Menlo"/>
              </a:rPr>
              <a:t>P26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740645" y="3973067"/>
            <a:ext cx="166192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PingFang SC"/>
              </a:rPr>
              <a:t>动手实验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40080" y="5394960"/>
            <a:ext cx="10927080" cy="694944"/>
          </a:xfrm>
          <a:prstGeom prst="roundRect">
            <a:avLst>
              <a:gd name="adj" fmla="val 6000"/>
            </a:avLst>
          </a:prstGeom>
          <a:solidFill>
            <a:srgbClr val="E0F2FE"/>
          </a:solidFill>
          <a:ln w="6350">
            <a:solidFill>
              <a:srgbClr val="E0F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40080" y="5394960"/>
            <a:ext cx="50292" cy="694944"/>
          </a:xfrm>
          <a:prstGeom prst="rect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2959" y="5513832"/>
            <a:ext cx="685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691B6"/>
                </a:solidFill>
                <a:latin typeface="PingFang SC"/>
              </a:rPr>
              <a:t>读法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508760" y="5513832"/>
            <a:ext cx="9875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PingFang SC"/>
              </a:rPr>
              <a:t>带「速查」标记的页面是查得最多的：Simple 表达式、Endpoint URI、内置 Header、标签总表。第一次读建议按顺序，之后直接跳到这四页。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6928" y="6419088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94A3B8"/>
                </a:solidFill>
                <a:latin typeface="PingFang SC"/>
              </a:rPr>
              <a:t>camel-session-0to1 · 26 页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72800" y="6419088"/>
            <a:ext cx="6675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94A3B8"/>
                </a:solidFill>
                <a:latin typeface="PingFang S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691B6"/>
                </a:solidFill>
                <a:latin typeface="PingFang SC"/>
              </a:rPr>
              <a:t>学习路线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0F172A"/>
                </a:solidFill>
                <a:latin typeface="PingFang SC"/>
              </a:rPr>
              <a:t>六个 API，每个只新增 2~3 个标签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07007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PingFang SC"/>
              </a:rPr>
              <a:t>由浅入深，每一步都能单独跑起来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1371600" cy="41148"/>
          </a:xfrm>
          <a:prstGeom prst="rect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37360"/>
          <a:ext cx="11064238" cy="3127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2569"/>
                <a:gridCol w="2212848"/>
                <a:gridCol w="3208629"/>
                <a:gridCol w="2434132"/>
                <a:gridCol w="2766060"/>
              </a:tblGrid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ingFang SC"/>
                        </a:rPr>
                        <a:t>#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ingFang SC"/>
                        </a:rPr>
                        <a:t>API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ingFang SC"/>
                        </a:rPr>
                        <a:t>新增标签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ingFang SC"/>
                        </a:rPr>
                        <a:t>路由文件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ingFang SC"/>
                        </a:rPr>
                        <a:t>解决的问题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0F172A"/>
                          </a:solidFill>
                          <a:latin typeface="PingFang SC"/>
                        </a:rPr>
                        <a:t>1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34155"/>
                          </a:solidFill>
                          <a:latin typeface="PingFang SC"/>
                        </a:rPr>
                        <a:t>POST /orders/basic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34155"/>
                          </a:solidFill>
                          <a:latin typeface="Menlo"/>
                        </a:rPr>
                        <a:t>&lt;route&gt; &lt;from&gt; &lt;to&gt; &lt;process&gt;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34155"/>
                          </a:solidFill>
                          <a:latin typeface="PingFang SC"/>
                        </a:rPr>
                        <a:t>route-api1-basic.xml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34155"/>
                          </a:solidFill>
                          <a:latin typeface="PingFang SC"/>
                        </a:rPr>
                        <a:t>一条路由怎么跑起来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0F172A"/>
                          </a:solidFill>
                          <a:latin typeface="PingFang SC"/>
                        </a:rPr>
                        <a:t>2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34155"/>
                          </a:solidFill>
                          <a:latin typeface="PingFang SC"/>
                        </a:rPr>
                        <a:t>POST /orders/dispatch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34155"/>
                          </a:solidFill>
                          <a:latin typeface="Menlo"/>
                        </a:rPr>
                        <a:t>&lt;choice&gt; &lt;when&gt; &lt;simple&gt; &lt;jsonpath&gt; &lt;filter&gt;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34155"/>
                          </a:solidFill>
                          <a:latin typeface="PingFang SC"/>
                        </a:rPr>
                        <a:t>route-api2-dispatch.xml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34155"/>
                          </a:solidFill>
                          <a:latin typeface="PingFang SC"/>
                        </a:rPr>
                        <a:t>怎么按条件走不同分支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0F172A"/>
                          </a:solidFill>
                          <a:latin typeface="PingFang SC"/>
                        </a:rPr>
                        <a:t>3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34155"/>
                          </a:solidFill>
                          <a:latin typeface="PingFang SC"/>
                        </a:rPr>
                        <a:t>POST /orders/quote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34155"/>
                          </a:solidFill>
                          <a:latin typeface="PingFang SC"/>
                        </a:rPr>
                        <a:t>ProducerTemplate + &lt;to uri="bean:"&gt;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34155"/>
                          </a:solidFill>
                          <a:latin typeface="PingFang SC"/>
                        </a:rPr>
                        <a:t>route-api3-quote.xml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34155"/>
                          </a:solidFill>
                          <a:latin typeface="PingFang SC"/>
                        </a:rPr>
                        <a:t>怎么主动调外部 HTTP / 本地路由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0F172A"/>
                          </a:solidFill>
                          <a:latin typeface="PingFang SC"/>
                        </a:rPr>
                        <a:t>4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34155"/>
                          </a:solidFill>
                          <a:latin typeface="PingFang SC"/>
                        </a:rPr>
                        <a:t>POST /orders/check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34155"/>
                          </a:solidFill>
                          <a:latin typeface="Menlo"/>
                        </a:rPr>
                        <a:t>&lt;multicast&gt; + aggregationStrategy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34155"/>
                          </a:solidFill>
                          <a:latin typeface="PingFang SC"/>
                        </a:rPr>
                        <a:t>route-api4-multicast.xml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34155"/>
                          </a:solidFill>
                          <a:latin typeface="PingFang SC"/>
                        </a:rPr>
                        <a:t>怎么并行调用再把结果合起来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0F172A"/>
                          </a:solidFill>
                          <a:latin typeface="PingFang SC"/>
                        </a:rPr>
                        <a:t>5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34155"/>
                          </a:solidFill>
                          <a:latin typeface="PingFang SC"/>
                        </a:rPr>
                        <a:t>POST /orders/split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34155"/>
                          </a:solidFill>
                          <a:latin typeface="Menlo"/>
                        </a:rPr>
                        <a:t>&lt;split&gt; &lt;wireTap&gt; &lt;toD&gt;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34155"/>
                          </a:solidFill>
                          <a:latin typeface="PingFang SC"/>
                        </a:rPr>
                        <a:t>route-api5-split.xml + route-shared.xml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34155"/>
                          </a:solidFill>
                          <a:latin typeface="PingFang SC"/>
                        </a:rPr>
                        <a:t>怎么拆批量、旁路埋点、动态选目标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0F172A"/>
                          </a:solidFill>
                          <a:latin typeface="PingFang SC"/>
                        </a:rPr>
                        <a:t>6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34155"/>
                          </a:solidFill>
                          <a:latin typeface="PingFang SC"/>
                        </a:rPr>
                        <a:t>POST /orders/fulfil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34155"/>
                          </a:solidFill>
                          <a:latin typeface="PingFang SC"/>
                        </a:rPr>
                        <a:t>以上全部组合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34155"/>
                          </a:solidFill>
                          <a:latin typeface="PingFang SC"/>
                        </a:rPr>
                        <a:t>route-api6-complex.xml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34155"/>
                          </a:solidFill>
                          <a:latin typeface="PingFang SC"/>
                        </a:rPr>
                        <a:t>真实业务里它们怎么协同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66928" y="5138928"/>
            <a:ext cx="11064240" cy="694944"/>
          </a:xfrm>
          <a:prstGeom prst="roundRect">
            <a:avLst>
              <a:gd name="adj" fmla="val 6000"/>
            </a:avLst>
          </a:prstGeom>
          <a:solidFill>
            <a:srgbClr val="D1FAE5"/>
          </a:solidFill>
          <a:ln w="6350">
            <a:solidFill>
              <a:srgbClr val="D1FA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5138928"/>
            <a:ext cx="50292" cy="69494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5257800"/>
            <a:ext cx="685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59669"/>
                </a:solidFill>
                <a:latin typeface="PingFang SC"/>
              </a:rPr>
              <a:t>动手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7" y="5257800"/>
            <a:ext cx="100126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PingFang SC"/>
              </a:rPr>
              <a:t>全部 API 都能离线运行：mvn clean package → java -jar target/*.jar → ./test-apis.sh。每一步都有日志，建议对照控制台边跑边看。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94A3B8"/>
                </a:solidFill>
                <a:latin typeface="PingFang SC"/>
              </a:rPr>
              <a:t>六个 API 共 16 条路由，其中 API-4、API-5 的子路由被 API-6 复用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19088"/>
            <a:ext cx="6675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94A3B8"/>
                </a:solidFill>
                <a:latin typeface="PingFang S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691B6"/>
                </a:solidFill>
                <a:latin typeface="PingFang SC"/>
              </a:rPr>
              <a:t>核心概念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0F172A"/>
                </a:solidFill>
                <a:latin typeface="PingFang SC"/>
              </a:rPr>
              <a:t>先记住 6 个名词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07007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PingFang SC"/>
              </a:rPr>
              <a:t>Camel 的全部内容都是这 6 个概念的组合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1371600" cy="41148"/>
          </a:xfrm>
          <a:prstGeom prst="rect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828800"/>
            <a:ext cx="91440" cy="91440"/>
          </a:xfrm>
          <a:prstGeom prst="ellipse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755648"/>
            <a:ext cx="5157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0F172A"/>
                </a:solidFill>
                <a:latin typeface="PingFang SC"/>
              </a:rPr>
              <a:t>CamelContext　运行时容器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011679"/>
            <a:ext cx="5157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PingFang SC"/>
              </a:rPr>
              <a:t>管理所有路由、组件、端点、线程池；一个应用通常只有一个</a:t>
            </a:r>
          </a:p>
        </p:txBody>
      </p:sp>
      <p:sp>
        <p:nvSpPr>
          <p:cNvPr id="10" name="Oval 9"/>
          <p:cNvSpPr/>
          <p:nvPr/>
        </p:nvSpPr>
        <p:spPr>
          <a:xfrm>
            <a:off x="658368" y="2610611"/>
            <a:ext cx="91440" cy="91440"/>
          </a:xfrm>
          <a:prstGeom prst="ellipse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537459"/>
            <a:ext cx="5157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0F172A"/>
                </a:solidFill>
                <a:latin typeface="PingFang SC"/>
              </a:rPr>
              <a:t>Route　一条消息处理流水线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793491"/>
            <a:ext cx="5157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PingFang SC"/>
              </a:rPr>
              <a:t>必须以一个 &lt;from&gt; 开头，后面是一串处理步骤</a:t>
            </a:r>
          </a:p>
        </p:txBody>
      </p:sp>
      <p:sp>
        <p:nvSpPr>
          <p:cNvPr id="13" name="Oval 12"/>
          <p:cNvSpPr/>
          <p:nvPr/>
        </p:nvSpPr>
        <p:spPr>
          <a:xfrm>
            <a:off x="658368" y="3392423"/>
            <a:ext cx="91440" cy="91440"/>
          </a:xfrm>
          <a:prstGeom prst="ellipse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3319271"/>
            <a:ext cx="5157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0F172A"/>
                </a:solidFill>
                <a:latin typeface="PingFang SC"/>
              </a:rPr>
              <a:t>Exchange　一次消息交换的上下文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3575303"/>
            <a:ext cx="5157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PingFang SC"/>
              </a:rPr>
              <a:t>包含 In 消息、Header、Property、异常，贯穿整条路由</a:t>
            </a:r>
          </a:p>
        </p:txBody>
      </p:sp>
      <p:sp>
        <p:nvSpPr>
          <p:cNvPr id="16" name="Oval 15"/>
          <p:cNvSpPr/>
          <p:nvPr/>
        </p:nvSpPr>
        <p:spPr>
          <a:xfrm>
            <a:off x="6355080" y="1828800"/>
            <a:ext cx="91440" cy="9144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92824" y="1755648"/>
            <a:ext cx="50200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0F172A"/>
                </a:solidFill>
                <a:latin typeface="PingFang SC"/>
              </a:rPr>
              <a:t>Endpoint / URI　消息的出入口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2824" y="2011679"/>
            <a:ext cx="50200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PingFang SC"/>
              </a:rPr>
              <a:t>direct:xxx、http://…、file:… —— 一个字符串就是一个地址</a:t>
            </a:r>
          </a:p>
        </p:txBody>
      </p:sp>
      <p:sp>
        <p:nvSpPr>
          <p:cNvPr id="19" name="Oval 18"/>
          <p:cNvSpPr/>
          <p:nvPr/>
        </p:nvSpPr>
        <p:spPr>
          <a:xfrm>
            <a:off x="6355080" y="2610611"/>
            <a:ext cx="91440" cy="9144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92824" y="2537459"/>
            <a:ext cx="50200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0F172A"/>
                </a:solidFill>
                <a:latin typeface="PingFang SC"/>
              </a:rPr>
              <a:t>Component　协议适配器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92824" y="2793491"/>
            <a:ext cx="502005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PingFang SC"/>
              </a:rPr>
              <a:t>endpoint URI 的 scheme（direct、http、platform-http）由它实现</a:t>
            </a:r>
          </a:p>
        </p:txBody>
      </p:sp>
      <p:sp>
        <p:nvSpPr>
          <p:cNvPr id="22" name="Oval 21"/>
          <p:cNvSpPr/>
          <p:nvPr/>
        </p:nvSpPr>
        <p:spPr>
          <a:xfrm>
            <a:off x="6355080" y="3589019"/>
            <a:ext cx="91440" cy="9144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92824" y="3515867"/>
            <a:ext cx="50200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0F172A"/>
                </a:solidFill>
                <a:latin typeface="PingFang SC"/>
              </a:rPr>
              <a:t>EIP　企业集成模式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92824" y="3771900"/>
            <a:ext cx="502005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PingFang SC"/>
              </a:rPr>
              <a:t>choice / filter / split / multicast / wireTap… 就是路由里的"语法"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4206240"/>
            <a:ext cx="10972800" cy="1499616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 w="9525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4370831"/>
            <a:ext cx="10515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7DD3FC"/>
                </a:solidFill>
                <a:latin typeface="PingFang SC"/>
              </a:rPr>
              <a:t>同一条路由的 Java DSL（左）与 XML DSL（右）—— 本项目统一用 XML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6112" y="4645151"/>
            <a:ext cx="10515600" cy="11338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from("direct:order")            &lt;from uri="direct:order"/&gt;        ← 入口 Endpoint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  .process(validator)           &lt;process ref="validator"/&gt;        ← 自定义 Java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  .choice().when(...)           &lt;choice&gt;&lt;when&gt;…&lt;/when&gt;&lt;/choice&gt;   ← EIP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  .to("http://fx-service");     &lt;to uri="http://fx-service"/&gt;     ← 出口 Endpoint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6419088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94A3B8"/>
                </a:solidFill>
                <a:latin typeface="PingFang SC"/>
              </a:rPr>
              <a:t>概念先行，标签自然就懂了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19088"/>
            <a:ext cx="6675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94A3B8"/>
                </a:solidFill>
                <a:latin typeface="PingFang S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691B6"/>
                </a:solidFill>
                <a:latin typeface="PingFang SC"/>
              </a:rPr>
              <a:t>消息模型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0F172A"/>
                </a:solidFill>
                <a:latin typeface="PingFang SC"/>
              </a:rPr>
              <a:t>Exchange：路由里流动的到底是什么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07007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PingFang SC"/>
              </a:rPr>
              <a:t>读懂它，才知道数据在哪、什么时候会丢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1371600" cy="41148"/>
          </a:xfrm>
          <a:prstGeom prst="rect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783080"/>
            <a:ext cx="2487168" cy="1481328"/>
          </a:xfrm>
          <a:prstGeom prst="roundRect">
            <a:avLst>
              <a:gd name="adj" fmla="val 10000"/>
            </a:avLst>
          </a:prstGeom>
          <a:solidFill>
            <a:srgbClr val="E0F2FE"/>
          </a:solidFill>
          <a:ln w="17780">
            <a:solidFill>
              <a:srgbClr val="0691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1938528"/>
            <a:ext cx="21396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0F172A"/>
                </a:solidFill>
                <a:latin typeface="PingFang SC"/>
              </a:rPr>
              <a:t>In Message（Body）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304288"/>
            <a:ext cx="213969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PingFang SC"/>
              </a:rPr>
              <a:t>真正的业务数据。会被 &lt;process&gt;/&lt;setBody&gt;/&lt;split&gt; 反复改写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1783080"/>
            <a:ext cx="2487168" cy="1481328"/>
          </a:xfrm>
          <a:prstGeom prst="roundRect">
            <a:avLst>
              <a:gd name="adj" fmla="val 10000"/>
            </a:avLst>
          </a:prstGeom>
          <a:solidFill>
            <a:srgbClr val="EDE9FE"/>
          </a:solidFill>
          <a:ln w="1778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39312" y="1938528"/>
            <a:ext cx="21396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0F172A"/>
                </a:solidFill>
                <a:latin typeface="PingFang SC"/>
              </a:rPr>
              <a:t>Headers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9312" y="2304288"/>
            <a:ext cx="213969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PingFang SC"/>
              </a:rPr>
              <a:t>随消息流动的元数据。&lt;setHeader&gt;/${header.x} 读写；进出组件时可能被覆盖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54496" y="1783080"/>
            <a:ext cx="2487168" cy="1481328"/>
          </a:xfrm>
          <a:prstGeom prst="roundRect">
            <a:avLst>
              <a:gd name="adj" fmla="val 10000"/>
            </a:avLst>
          </a:prstGeom>
          <a:solidFill>
            <a:srgbClr val="D1FAE5"/>
          </a:solidFill>
          <a:ln w="1778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376" y="1938528"/>
            <a:ext cx="21396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0F172A"/>
                </a:solidFill>
                <a:latin typeface="PingFang SC"/>
              </a:rPr>
              <a:t>Properties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376" y="2304288"/>
            <a:ext cx="213969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PingFang SC"/>
              </a:rPr>
              <a:t>整个 Exchange 级别的"随行数据"。&lt;setProperty&gt;/${exchangeProperty.x}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1783080"/>
            <a:ext cx="2487168" cy="1481328"/>
          </a:xfrm>
          <a:prstGeom prst="roundRect">
            <a:avLst>
              <a:gd name="adj" fmla="val 10000"/>
            </a:avLst>
          </a:prstGeom>
          <a:solidFill>
            <a:srgbClr val="FFE4E6"/>
          </a:solidFill>
          <a:ln w="17780">
            <a:solidFill>
              <a:srgbClr val="BE1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0" y="1938528"/>
            <a:ext cx="21396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0F172A"/>
                </a:solidFill>
                <a:latin typeface="PingFang SC"/>
              </a:rPr>
              <a:t>Exception / Pattern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440" y="2304288"/>
            <a:ext cx="213969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PingFang SC"/>
              </a:rPr>
              <a:t>异常与 InOnly / InOut 模式；决定要不要等返回值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520440"/>
            <a:ext cx="10881360" cy="905256"/>
          </a:xfrm>
          <a:prstGeom prst="roundRect">
            <a:avLst>
              <a:gd name="adj" fmla="val 6000"/>
            </a:avLst>
          </a:prstGeom>
          <a:solidFill>
            <a:srgbClr val="E0F2FE"/>
          </a:solidFill>
          <a:ln w="6350">
            <a:solidFill>
              <a:srgbClr val="E0F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" y="3520440"/>
            <a:ext cx="50292" cy="905256"/>
          </a:xfrm>
          <a:prstGeom prst="rect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639312"/>
            <a:ext cx="685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691B6"/>
                </a:solidFill>
                <a:latin typeface="PingFang SC"/>
              </a:rPr>
              <a:t>实战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7048" y="3639312"/>
            <a:ext cx="982980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PingFang SC"/>
              </a:rPr>
              <a:t>本项目 API-6 就靠这个区别工作：Body 在 multicast/split 之后已经面目全非，所以第 2 步先用 &lt;setProperty name="originalOrder"&gt; 把原始报文存进 Property，履约时再 &lt;setBody&gt;${exchangeProperty.originalOrder}&lt;/setBody&gt; 还原。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480560"/>
            <a:ext cx="10881360" cy="1499616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 w="9525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4645152"/>
            <a:ext cx="10424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7DD3FC"/>
                </a:solidFill>
                <a:latin typeface="PingFang SC"/>
              </a:rPr>
              <a:t>Property 备份 / 还原（camel/route-api6-complex.xml）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4919472"/>
            <a:ext cx="10424160" cy="11338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&lt;setProperty name="originalOrder"&gt;&lt;simple&gt;${body}&lt;/simple&gt;&lt;/setProperty&gt;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…  &lt;multicast/&gt; &lt;process/&gt; 期间 body 被替换成风控聚合结果  …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&lt;setBody&gt;&lt;simple&gt;${exchangeProperty.originalOrder}&lt;/simple&gt;&lt;/setBody&gt;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&lt;split&gt;&lt;jsonpath&gt;$.items&lt;/jsonpath&gt; … &lt;/split&gt;   ← 还原后才拿得到 items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419088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94A3B8"/>
                </a:solidFill>
                <a:latin typeface="PingFang SC"/>
              </a:rPr>
              <a:t>Body 会变，Property 不会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19088"/>
            <a:ext cx="6675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94A3B8"/>
                </a:solidFill>
                <a:latin typeface="PingFang S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691B6"/>
                </a:solidFill>
                <a:latin typeface="PingFang SC"/>
              </a:rPr>
              <a:t>项目结构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0F172A"/>
                </a:solidFill>
                <a:latin typeface="PingFang SC"/>
              </a:rPr>
              <a:t>代码放在哪：一张图找到任何东西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07007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PingFang SC"/>
              </a:rPr>
              <a:t>camel-context.xml 只负责装配，路由按 API 拆成 8 个片段文件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1371600" cy="41148"/>
          </a:xfrm>
          <a:prstGeom prst="rect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5074920" cy="3264407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 w="9525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01952"/>
            <a:ext cx="4617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7DD3FC"/>
                </a:solidFill>
                <a:latin typeface="PingFang SC"/>
              </a:rPr>
              <a:t>src/main/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176272"/>
            <a:ext cx="4617720" cy="2898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E2E8F0"/>
                </a:solidFill>
                <a:latin typeface="Menlo"/>
              </a:rPr>
              <a:t>resources/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E2E8F0"/>
                </a:solidFill>
                <a:latin typeface="Menlo"/>
              </a:rPr>
              <a:t>  camel-context.xml          ← 装配入口（import + ref）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E2E8F0"/>
                </a:solidFill>
                <a:latin typeface="Menlo"/>
              </a:rPr>
              <a:t>  camel/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E2E8F0"/>
                </a:solidFill>
                <a:latin typeface="Menlo"/>
              </a:rPr>
              <a:t>    rest-api.xml             ← &lt;restContext&gt;  六个 REST 端点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E2E8F0"/>
                </a:solidFill>
                <a:latin typeface="Menlo"/>
              </a:rPr>
              <a:t>    route-api1-basic.xml     ← &lt;routeContext&gt; API-1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E2E8F0"/>
                </a:solidFill>
                <a:latin typeface="Menlo"/>
              </a:rPr>
              <a:t>    route-api2-dispatch.xml  ← &lt;routeContext&gt; API-2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E2E8F0"/>
                </a:solidFill>
                <a:latin typeface="Menlo"/>
              </a:rPr>
              <a:t>    route-api3-quote.xml     ← &lt;routeContext&gt; API-3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E2E8F0"/>
                </a:solidFill>
                <a:latin typeface="Menlo"/>
              </a:rPr>
              <a:t>    route-api4-multicast.xml ← &lt;routeContext&gt; API-4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E2E8F0"/>
                </a:solidFill>
                <a:latin typeface="Menlo"/>
              </a:rPr>
              <a:t>    route-api5-split.xml     ← &lt;routeContext&gt; API-5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E2E8F0"/>
                </a:solidFill>
                <a:latin typeface="Menlo"/>
              </a:rPr>
              <a:t>    route-shared.xml         ← item-* / audit-log 共用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E2E8F0"/>
                </a:solidFill>
                <a:latin typeface="Menlo"/>
              </a:rPr>
              <a:t>    route-api6-complex.xml   ← &lt;routeContext&gt; API-6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E2E8F0"/>
                </a:solidFill>
                <a:latin typeface="Menlo"/>
              </a:rPr>
              <a:t>  application.yml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E2E8F0"/>
                </a:solidFill>
                <a:latin typeface="Menlo"/>
              </a:rPr>
              <a:t>java/com/example/camel/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E2E8F0"/>
                </a:solidFill>
                <a:latin typeface="Menlo"/>
              </a:rPr>
              <a:t>  processor/   strategy/   bean/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989320" y="1737360"/>
          <a:ext cx="5641847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5250"/>
                <a:gridCol w="3046597"/>
              </a:tblGrid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ingFang SC"/>
                        </a:rPr>
                        <a:t>找什么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ingFang SC"/>
                        </a:rPr>
                        <a:t>去哪里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PingFang SC"/>
                        </a:rPr>
                        <a:t>某个 API 的路由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camel/route-apiN-*.xml，文件头有该组标签的讲解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Menlo"/>
                        </a:rPr>
                        <a:t>&lt;process ref="x"/&gt; 的实现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processor/ 下同名 @Component("x")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PingFang SC"/>
                        </a:rPr>
                        <a:t>aggregationStrategy 的实现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strategy/ 下同名 Bean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PingFang SC"/>
                        </a:rPr>
                        <a:t>ProducerTemplate 用法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bean/RemoteCallService.java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PingFang SC"/>
                        </a:rPr>
                        <a:t>被调用的"外部系统"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bean/MockRemoteApiController.java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PingFang SC"/>
                        </a:rPr>
                        <a:t>运行期开关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camel-context.xml 的 &lt;camelContext&gt; 属性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PingFang SC"/>
                        </a:rPr>
                        <a:t>接口测试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.idea/rest/API-requests.http 或 ./test-apis.sh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66928" y="5303520"/>
            <a:ext cx="11064240" cy="905256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 w="6350">
            <a:solidFill>
              <a:srgbClr val="FEF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5303520"/>
            <a:ext cx="50292" cy="905256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5422392"/>
            <a:ext cx="685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B45309"/>
                </a:solidFill>
                <a:latin typeface="PingFang SC"/>
              </a:rPr>
              <a:t>扩展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7" y="5422392"/>
            <a:ext cx="1001268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PingFang SC"/>
              </a:rPr>
              <a:t>新增一个 API 的三步：camel/ 下加一个 &lt;routeContext&gt; 文件 → camel-context.xml 里 &lt;import&gt; + &lt;routeContextRef&gt; → rest-api.xml 里加 &lt;post&gt;。注意 XSD 规定 ref 元素必须写在 &lt;restConfiguration&gt; 之前。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19088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94A3B8"/>
                </a:solidFill>
                <a:latin typeface="PingFang SC"/>
              </a:rPr>
              <a:t>拆分靠的是 Camel 的 &lt;routeContext&gt; / &lt;restContext&gt; 片段容器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419088"/>
            <a:ext cx="6675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94A3B8"/>
                </a:solidFill>
                <a:latin typeface="PingFang S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691B6"/>
                </a:solidFill>
                <a:latin typeface="PingFang SC"/>
              </a:rPr>
              <a:t>工程装配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0F172A"/>
                </a:solidFill>
                <a:latin typeface="PingFang SC"/>
              </a:rPr>
              <a:t>@ImportResource 是怎么把 XML 接进 Spring Boot 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07007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PingFang SC"/>
              </a:rPr>
              <a:t>理解这条链路，才能解释本项目遇到的四个坑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1371600" cy="41148"/>
          </a:xfrm>
          <a:prstGeom prst="rect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783080"/>
            <a:ext cx="2487168" cy="960120"/>
          </a:xfrm>
          <a:prstGeom prst="roundRect">
            <a:avLst>
              <a:gd name="adj" fmla="val 10000"/>
            </a:avLst>
          </a:prstGeom>
          <a:solidFill>
            <a:srgbClr val="E0F2FE"/>
          </a:solidFill>
          <a:ln w="16510">
            <a:solidFill>
              <a:srgbClr val="0691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901952"/>
            <a:ext cx="365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691B6"/>
                </a:solidFill>
                <a:latin typeface="PingFang SC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19" y="1892807"/>
            <a:ext cx="1828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Menlo"/>
              </a:rPr>
              <a:t>@ImportResource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249424"/>
            <a:ext cx="21579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64748B"/>
                </a:solidFill>
                <a:latin typeface="PingFang SC"/>
              </a:rPr>
              <a:t>Spring 解析 camel-context.xml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145536" y="2263140"/>
            <a:ext cx="310896" cy="0"/>
          </a:xfrm>
          <a:prstGeom prst="line">
            <a:avLst/>
          </a:prstGeom>
          <a:ln w="19050">
            <a:solidFill>
              <a:srgbClr val="3341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456432" y="1783080"/>
            <a:ext cx="2487168" cy="960120"/>
          </a:xfrm>
          <a:prstGeom prst="roundRect">
            <a:avLst>
              <a:gd name="adj" fmla="val 10000"/>
            </a:avLst>
          </a:prstGeom>
          <a:solidFill>
            <a:srgbClr val="E0F2FE"/>
          </a:solidFill>
          <a:ln w="16510">
            <a:solidFill>
              <a:srgbClr val="0691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21024" y="1901952"/>
            <a:ext cx="365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691B6"/>
                </a:solidFill>
                <a:latin typeface="PingFang SC"/>
              </a:rPr>
              <a:t>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86784" y="1892807"/>
            <a:ext cx="1828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Menlo"/>
              </a:rPr>
              <a:t>&lt;camelContext&gt;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1024" y="2249424"/>
            <a:ext cx="21579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64748B"/>
                </a:solidFill>
                <a:latin typeface="PingFang SC"/>
              </a:rPr>
              <a:t>注册成 CamelContext Bean，再用 ref 装配路由片段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943600" y="2263140"/>
            <a:ext cx="310896" cy="0"/>
          </a:xfrm>
          <a:prstGeom prst="line">
            <a:avLst/>
          </a:prstGeom>
          <a:ln w="19050">
            <a:solidFill>
              <a:srgbClr val="3341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254496" y="1783080"/>
            <a:ext cx="2487168" cy="960120"/>
          </a:xfrm>
          <a:prstGeom prst="roundRect">
            <a:avLst>
              <a:gd name="adj" fmla="val 10000"/>
            </a:avLst>
          </a:prstGeom>
          <a:solidFill>
            <a:srgbClr val="E0F2FE"/>
          </a:solidFill>
          <a:ln w="16510">
            <a:solidFill>
              <a:srgbClr val="0691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19088" y="1901952"/>
            <a:ext cx="365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691B6"/>
                </a:solidFill>
                <a:latin typeface="PingFang SC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4848" y="1892807"/>
            <a:ext cx="1828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Menlo"/>
              </a:rPr>
              <a:t>自动装配让位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9088" y="2249424"/>
            <a:ext cx="21579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64748B"/>
                </a:solidFill>
                <a:latin typeface="PingFang SC"/>
              </a:rPr>
              <a:t>CamelAutoConfiguration 是 @ConditionalOnMissingBean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41664" y="2263140"/>
            <a:ext cx="310896" cy="0"/>
          </a:xfrm>
          <a:prstGeom prst="line">
            <a:avLst/>
          </a:prstGeom>
          <a:ln w="19050">
            <a:solidFill>
              <a:srgbClr val="3341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052560" y="1783080"/>
            <a:ext cx="2487168" cy="960120"/>
          </a:xfrm>
          <a:prstGeom prst="roundRect">
            <a:avLst>
              <a:gd name="adj" fmla="val 10000"/>
            </a:avLst>
          </a:prstGeom>
          <a:solidFill>
            <a:srgbClr val="E0F2FE"/>
          </a:solidFill>
          <a:ln w="16510">
            <a:solidFill>
              <a:srgbClr val="0691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17152" y="1901952"/>
            <a:ext cx="365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691B6"/>
                </a:solidFill>
                <a:latin typeface="PingFang SC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82912" y="1892807"/>
            <a:ext cx="1828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Menlo"/>
              </a:rPr>
              <a:t>XML 上下文接管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17152" y="2249424"/>
            <a:ext cx="21579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64748B"/>
                </a:solidFill>
                <a:latin typeface="PingFang SC"/>
              </a:rPr>
              <a:t>路由随 Spring Boot 一起启停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58368" y="3063240"/>
          <a:ext cx="10881359" cy="25786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6272"/>
                <a:gridCol w="3699662"/>
                <a:gridCol w="5005425"/>
              </a:tblGrid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ingFang SC"/>
                        </a:rPr>
                        <a:t>踩过的坑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ingFang SC"/>
                        </a:rPr>
                        <a:t>现象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ingFang SC"/>
                        </a:rPr>
                        <a:t>解决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0F172A"/>
                          </a:solidFill>
                          <a:latin typeface="PingFang SC"/>
                        </a:rPr>
                        <a:t>ProducerTemplate 有两个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34155"/>
                          </a:solidFill>
                          <a:latin typeface="PingFang SC"/>
                        </a:rPr>
                        <a:t>启动报 expected single matching bean but found 2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34155"/>
                          </a:solidFill>
                          <a:latin typeface="Menlo"/>
                        </a:rPr>
                        <a:t>&lt;camelContext&gt; 已自动注册名为 template 的 Bean，不要再自建 @Bean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0F172A"/>
                          </a:solidFill>
                          <a:latin typeface="PingFang SC"/>
                        </a:rPr>
                        <a:t>循环依赖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34155"/>
                          </a:solidFill>
                          <a:latin typeface="PingFang SC"/>
                        </a:rPr>
                        <a:t>camelContext ↔ *ComponentAutoConfiguration 互相等待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34155"/>
                          </a:solidFill>
                          <a:latin typeface="PingFang SC"/>
                        </a:rPr>
                        <a:t>业务 Bean 注入模板时加 @Lazy；并开启 spring.main.allow-circular-references=true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0F172A"/>
                          </a:solidFill>
                          <a:latin typeface="PingFang SC"/>
                        </a:rPr>
                        <a:t>yml 开关不生效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34155"/>
                          </a:solidFill>
                          <a:latin typeface="PingFang SC"/>
                        </a:rPr>
                        <a:t>camel.springboot.use-mdc-logging 写了没反应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34155"/>
                          </a:solidFill>
                          <a:latin typeface="PingFang SC"/>
                        </a:rPr>
                        <a:t>自动装配已让位，运行时开关必须写成 &lt;camelContext useMDCLogging="true"&gt; 属性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0F172A"/>
                          </a:solidFill>
                          <a:latin typeface="PingFang SC"/>
                        </a:rPr>
                        <a:t>XML 解析失败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34155"/>
                          </a:solidFill>
                          <a:latin typeface="PingFang SC"/>
                        </a:rPr>
                        <a:t>The string "--" is not permitted within comments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34155"/>
                          </a:solidFill>
                          <a:latin typeface="PingFang SC"/>
                        </a:rPr>
                        <a:t>XML 注释里不能出现连续两个短横线，画表格分隔线要换成 = 号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566928" y="6419088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94A3B8"/>
                </a:solidFill>
                <a:latin typeface="PingFang SC"/>
              </a:rPr>
              <a:t>四个坑都在本项目里真实出现过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19088"/>
            <a:ext cx="6675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94A3B8"/>
                </a:solidFill>
                <a:latin typeface="PingFang S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691B6"/>
                </a:solidFill>
                <a:latin typeface="PingFang SC"/>
              </a:rPr>
              <a:t>标签 1/6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0F172A"/>
                </a:solidFill>
                <a:latin typeface="PingFang SC"/>
              </a:rPr>
              <a:t>REST DSL：&lt;restConfiguration&gt; / &lt;rest&gt; / &lt;post&gt; / &lt;to&gt;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07007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PingFang SC"/>
              </a:rPr>
              <a:t>REST 层只做协议适配，业务一律交给 direct 路由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1371600" cy="41148"/>
          </a:xfrm>
          <a:prstGeom prst="rect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5760720" cy="3433571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 w="9525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20240"/>
            <a:ext cx="5303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7DD3FC"/>
                </a:solidFill>
                <a:latin typeface="PingFang SC"/>
              </a:rPr>
              <a:t>camel/rest-api.xml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194560"/>
            <a:ext cx="5303520" cy="30678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&lt;restConfiguration component="platform-http"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                   bindingMode="json"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                   enableCORS="true"&gt;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  &lt;dataFormatProperty key="prettyPrint" value="true"/&gt;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&lt;/restConfiguration&gt;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&lt;rest path="/api/v1/orders"&gt;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  &lt;post path="/basic"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        type="java.util.Map"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        outType="java.util.Map"&gt;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    &lt;to uri="direct:api1-basic"/&gt;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  &lt;/post&gt;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&lt;/rest&gt;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75120" y="1755648"/>
          <a:ext cx="4937759" cy="3236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3859"/>
                <a:gridCol w="2863900"/>
              </a:tblGrid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ingFang SC"/>
                        </a:rPr>
                        <a:t>标签 / 属性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ingFang SC"/>
                        </a:rPr>
                        <a:t>用途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Menlo"/>
                        </a:rPr>
                        <a:t>&lt;restConfiguration&gt;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REST 的全局配置，每个 CamelContext 一份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PingFang SC"/>
                        </a:rPr>
                        <a:t>component=platform-http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复用 Spring Boot 内嵌 Tomcat，不额外开端口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PingFang SC"/>
                        </a:rPr>
                        <a:t>bindingMode=json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入站按 type 反序列化，出站自动序列化成 JSON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Menlo"/>
                        </a:rPr>
                        <a:t>&lt;rest path&gt;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一组端点的公共前缀，本身不处理业务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Menlo"/>
                        </a:rPr>
                        <a:t>&lt;post path type outType&gt;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一个 POST 动词；必须且只能包含一个 &lt;to&gt;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Menlo"/>
                        </a:rPr>
                        <a:t>&lt;to uri="direct:…"&gt;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把请求转交给某条路由；direct 是同步内存端点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58368" y="5349240"/>
            <a:ext cx="10881360" cy="694944"/>
          </a:xfrm>
          <a:prstGeom prst="roundRect">
            <a:avLst>
              <a:gd name="adj" fmla="val 6000"/>
            </a:avLst>
          </a:prstGeom>
          <a:solidFill>
            <a:srgbClr val="E0F2FE"/>
          </a:solidFill>
          <a:ln w="6350">
            <a:solidFill>
              <a:srgbClr val="E0F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5349240"/>
            <a:ext cx="50292" cy="694944"/>
          </a:xfrm>
          <a:prstGeom prst="rect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" y="5468112"/>
            <a:ext cx="685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691B6"/>
                </a:solidFill>
                <a:latin typeface="PingFang SC"/>
              </a:rPr>
              <a:t>设计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5468112"/>
            <a:ext cx="982980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PingFang SC"/>
              </a:rPr>
              <a:t>为什么都转给 direct:？因为路由才是可复用、可组合、可单测的单元。REST 层换成 MQ 触发时，业务路由一行都不用改。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19088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94A3B8"/>
                </a:solidFill>
                <a:latin typeface="PingFang SC"/>
              </a:rPr>
              <a:t>API 全部挂在 http://localhost:8080/api/v1/orders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419088"/>
            <a:ext cx="6675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94A3B8"/>
                </a:solidFill>
                <a:latin typeface="PingFang S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691B6"/>
                </a:solidFill>
                <a:latin typeface="PingFang SC"/>
              </a:rPr>
              <a:t>标签 2/6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0F172A"/>
                </a:solidFill>
                <a:latin typeface="PingFang SC"/>
              </a:rPr>
              <a:t>API-1　&lt;route&gt; &lt;from&gt; &lt;to&gt; &lt;process&gt;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07007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PingFang SC"/>
              </a:rPr>
              <a:t>POST /api/v1/orders/basic —— 一条路由最小可用的样子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1371600" cy="41148"/>
          </a:xfrm>
          <a:prstGeom prst="rect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6309360" cy="3218687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 w="9525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20240"/>
            <a:ext cx="5852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7DD3FC"/>
                </a:solidFill>
                <a:latin typeface="PingFang SC"/>
              </a:rPr>
              <a:t>camel/route-api1-basic.xml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194560"/>
            <a:ext cx="5852160" cy="28529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&lt;route id="api1-basic-order"&gt;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  &lt;from uri="direct:api1-basic"/&gt;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  &lt;log message="[API-1] &gt;&gt;&gt; entering route, payload=${body}"/&gt;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  &lt;process ref="orderValidateProcessor"/&gt;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  &lt;to uri="direct:api1-enrich"/&gt;          ← 调另一条路由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  &lt;log message="[API-1] &lt;&lt;&lt; route finished"/&gt;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&lt;/route&gt;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&lt;route id="api1-enrich-order"&gt;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  &lt;from uri="direct:api1-enrich"/&gt;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  &lt;process ref="orderEnrichProcessor"/&gt;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&lt;/route&gt;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059168" y="1755648"/>
          <a:ext cx="4553711" cy="30358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2890"/>
                <a:gridCol w="3460821"/>
              </a:tblGrid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ingFang SC"/>
                        </a:rPr>
                        <a:t>标签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ingFang SC"/>
                        </a:rPr>
                        <a:t>用途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0F172A"/>
                          </a:solidFill>
                          <a:latin typeface="Menlo"/>
                        </a:rPr>
                        <a:t>&lt;route&gt;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34155"/>
                          </a:solidFill>
                          <a:latin typeface="PingFang SC"/>
                        </a:rPr>
                        <a:t>一条流水线；id 会出现在日志/JMX/MDC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0F172A"/>
                          </a:solidFill>
                          <a:latin typeface="Menlo"/>
                        </a:rPr>
                        <a:t>&lt;from&gt;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34155"/>
                          </a:solidFill>
                          <a:latin typeface="PingFang SC"/>
                        </a:rPr>
                        <a:t>路由唯一入口(Consumer)，一条路由只能有一个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0F172A"/>
                          </a:solidFill>
                          <a:latin typeface="Menlo"/>
                        </a:rPr>
                        <a:t>&lt;to&gt;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34155"/>
                          </a:solidFill>
                          <a:latin typeface="PingFang SC"/>
                        </a:rPr>
                        <a:t>发消息给下一个 Endpoint，默认同步等返回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0F172A"/>
                          </a:solidFill>
                          <a:latin typeface="Menlo"/>
                        </a:rPr>
                        <a:t>&lt;process&gt;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34155"/>
                          </a:solidFill>
                          <a:latin typeface="PingFang SC"/>
                        </a:rPr>
                        <a:t>插入自定义 Java 代码，可读写整个 Exchange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0F172A"/>
                          </a:solidFill>
                          <a:latin typeface="Menlo"/>
                        </a:rPr>
                        <a:t>&lt;log&gt;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34155"/>
                          </a:solidFill>
                          <a:latin typeface="PingFang SC"/>
                        </a:rPr>
                        <a:t>声明式日志，message 里直接写 Simple 表达式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58368" y="5120640"/>
            <a:ext cx="10881360" cy="694944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 w="6350">
            <a:solidFill>
              <a:srgbClr val="FEF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5120640"/>
            <a:ext cx="50292" cy="6949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" y="5239512"/>
            <a:ext cx="685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B45309"/>
                </a:solidFill>
                <a:latin typeface="PingFang SC"/>
              </a:rPr>
              <a:t>用法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5239512"/>
            <a:ext cx="982980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PingFang SC"/>
              </a:rPr>
              <a:t>Processor 适合做校验、埋点、复杂改写；简单取值判断优先用 &lt;simple&gt;，不要动辄写 Java。一条 route 就是一个可复用单元，用 &lt;to&gt; 组合它们。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19088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94A3B8"/>
                </a:solidFill>
                <a:latin typeface="PingFang SC"/>
              </a:rPr>
              <a:t>route id 会作为 logger 名字出现在控制台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419088"/>
            <a:ext cx="6675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94A3B8"/>
                </a:solidFill>
                <a:latin typeface="PingFang S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691B6"/>
                </a:solidFill>
                <a:latin typeface="PingFang SC"/>
              </a:rPr>
              <a:t>标签 3/6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0F172A"/>
                </a:solidFill>
                <a:latin typeface="PingFang SC"/>
              </a:rPr>
              <a:t>API-2　&lt;choice&gt; &lt;when&gt; &lt;otherwise&gt; &lt;simple&gt; &lt;jsonpath&gt;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07007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PingFang SC"/>
              </a:rPr>
              <a:t>POST /api/v1/orders/dispatch —— 按条件走不同通道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1371600" cy="41148"/>
          </a:xfrm>
          <a:prstGeom prst="rect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6675120" cy="3433571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 w="9525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20240"/>
            <a:ext cx="62179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7DD3FC"/>
                </a:solidFill>
                <a:latin typeface="PingFang SC"/>
              </a:rPr>
              <a:t>内容路由器 Content Based Router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194560"/>
            <a:ext cx="6217920" cy="30678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&lt;choice&gt;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&lt;when&gt;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  &lt;simple&gt;${body[amount]} &amp;gt; 10000&lt;/simple&gt;      ← Simple 表达式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  &lt;setHeader name="lane"&gt;&lt;constant&gt;VIP&lt;/constant&gt;&lt;/setHeader&gt;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&lt;/when&gt;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&lt;when&gt;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  &lt;jsonpath&gt;$[?(@.channel == 'APP')]&lt;/jsonpath&gt;  ← JSONPath 谓词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  &lt;setHeader name="lane"&gt;&lt;constant&gt;APP_FAST&lt;/constant&gt;&lt;/setHeader&gt;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&lt;/when&gt;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&lt;otherwise&gt;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  &lt;setHeader name="lane"&gt;&lt;constant&gt;STANDARD&lt;/constant&gt;&lt;/setHeader&gt;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&lt;/otherwise&gt;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&lt;/choice&gt;</a:t>
            </a:r>
          </a:p>
        </p:txBody>
      </p:sp>
      <p:sp>
        <p:nvSpPr>
          <p:cNvPr id="10" name="Oval 9"/>
          <p:cNvSpPr/>
          <p:nvPr/>
        </p:nvSpPr>
        <p:spPr>
          <a:xfrm>
            <a:off x="7360920" y="1947672"/>
            <a:ext cx="91440" cy="9144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98664" y="1874519"/>
            <a:ext cx="405993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PingFang SC"/>
              </a:rPr>
              <a:t>&lt;choice&gt;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98664" y="2130551"/>
            <a:ext cx="405993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PingFang SC"/>
              </a:rPr>
              <a:t>内容路由器；自上而下匹配，命中第一个就结束</a:t>
            </a:r>
          </a:p>
        </p:txBody>
      </p:sp>
      <p:sp>
        <p:nvSpPr>
          <p:cNvPr id="13" name="Oval 12"/>
          <p:cNvSpPr/>
          <p:nvPr/>
        </p:nvSpPr>
        <p:spPr>
          <a:xfrm>
            <a:off x="7360920" y="2601468"/>
            <a:ext cx="91440" cy="9144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98664" y="2528315"/>
            <a:ext cx="405993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PingFang SC"/>
              </a:rPr>
              <a:t>&lt;when&gt;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98664" y="2784347"/>
            <a:ext cx="405993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PingFang SC"/>
              </a:rPr>
              <a:t>一个分支，第一个子元素必须是谓词</a:t>
            </a:r>
          </a:p>
        </p:txBody>
      </p:sp>
      <p:sp>
        <p:nvSpPr>
          <p:cNvPr id="16" name="Oval 15"/>
          <p:cNvSpPr/>
          <p:nvPr/>
        </p:nvSpPr>
        <p:spPr>
          <a:xfrm>
            <a:off x="7360920" y="3255263"/>
            <a:ext cx="91440" cy="9144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98664" y="3182111"/>
            <a:ext cx="405993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PingFang SC"/>
              </a:rPr>
              <a:t>&lt;otherwise&gt;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98664" y="3438143"/>
            <a:ext cx="405993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PingFang SC"/>
              </a:rPr>
              <a:t>都不命中时的兜底，可省略</a:t>
            </a:r>
          </a:p>
        </p:txBody>
      </p:sp>
      <p:sp>
        <p:nvSpPr>
          <p:cNvPr id="19" name="Oval 18"/>
          <p:cNvSpPr/>
          <p:nvPr/>
        </p:nvSpPr>
        <p:spPr>
          <a:xfrm>
            <a:off x="7360920" y="3909059"/>
            <a:ext cx="91440" cy="9144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98664" y="3835907"/>
            <a:ext cx="405993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PingFang SC"/>
              </a:rPr>
              <a:t>&lt;simple&gt;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98664" y="4091939"/>
            <a:ext cx="40599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PingFang SC"/>
              </a:rPr>
              <a:t>内置表达式：${body[k]} ${header.x} ${exchangeProperty.x}</a:t>
            </a:r>
          </a:p>
        </p:txBody>
      </p:sp>
      <p:sp>
        <p:nvSpPr>
          <p:cNvPr id="22" name="Oval 21"/>
          <p:cNvSpPr/>
          <p:nvPr/>
        </p:nvSpPr>
        <p:spPr>
          <a:xfrm>
            <a:off x="7360920" y="4759451"/>
            <a:ext cx="91440" cy="9144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98664" y="4686299"/>
            <a:ext cx="405993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PingFang SC"/>
              </a:rPr>
              <a:t>&lt;jsonpath&gt;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98664" y="4942331"/>
            <a:ext cx="40599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PingFang SC"/>
              </a:rPr>
              <a:t>直接在 JSON 结构上取值/判断；过滤表达式非空即 true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394960"/>
            <a:ext cx="10881360" cy="694944"/>
          </a:xfrm>
          <a:prstGeom prst="roundRect">
            <a:avLst>
              <a:gd name="adj" fmla="val 6000"/>
            </a:avLst>
          </a:prstGeom>
          <a:solidFill>
            <a:srgbClr val="FFE4E6"/>
          </a:solidFill>
          <a:ln w="6350">
            <a:solidFill>
              <a:srgbClr val="FFE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8368" y="5394960"/>
            <a:ext cx="50292" cy="694944"/>
          </a:xfrm>
          <a:prstGeom prst="rect">
            <a:avLst/>
          </a:prstGeom>
          <a:solidFill>
            <a:srgbClr val="BE1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7" y="5513832"/>
            <a:ext cx="685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BE123C"/>
                </a:solidFill>
                <a:latin typeface="PingFang SC"/>
              </a:rPr>
              <a:t>易错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7048" y="5513832"/>
            <a:ext cx="982980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PingFang SC"/>
              </a:rPr>
              <a:t>XML 里比较符要转义：&gt; 写成 &amp;gt;，&lt; 写成 &amp;lt;。多个 &lt;when&gt; 只会命中一个，想"都执行"请用 &lt;multicast&gt;。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6419088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94A3B8"/>
                </a:solidFill>
                <a:latin typeface="PingFang SC"/>
              </a:rPr>
              <a:t>三种输入分别命中 when#1 / when#2 / otherwise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19088"/>
            <a:ext cx="6675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94A3B8"/>
                </a:solidFill>
                <a:latin typeface="PingFang S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691B6"/>
                </a:solidFill>
                <a:latin typeface="PingFang SC"/>
              </a:rPr>
              <a:t>重点对比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0F172A"/>
                </a:solidFill>
                <a:latin typeface="PingFang SC"/>
              </a:rPr>
              <a:t>&lt;filter&gt; 和 &lt;choice&gt;/&lt;when&gt; 到底差在哪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07007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PingFang SC"/>
              </a:rPr>
              <a:t>初学最容易混的一对；本项目 API-2 与 API-6 都靠这个区别工作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1371600" cy="41148"/>
          </a:xfrm>
          <a:prstGeom prst="rect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37360"/>
          <a:ext cx="11064238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8993"/>
                <a:gridCol w="4646980"/>
                <a:gridCol w="4868265"/>
              </a:tblGrid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ingFang SC"/>
                        </a:rPr>
                        <a:t>维度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Menlo"/>
                        </a:rPr>
                        <a:t>&lt;filter&gt;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Menlo"/>
                        </a:rPr>
                        <a:t>&lt;choice&gt; + &lt;when&gt;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F172A"/>
                          </a:solidFill>
                          <a:latin typeface="PingFang SC"/>
                        </a:rPr>
                        <a:t>分支数量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334155"/>
                          </a:solidFill>
                          <a:latin typeface="PingFang SC"/>
                        </a:rPr>
                        <a:t>只有一个（真 / 假）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334155"/>
                          </a:solidFill>
                          <a:latin typeface="PingFang SC"/>
                        </a:rPr>
                        <a:t>任意多个 &lt;when&gt; + 一个 &lt;otherwise&gt;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F172A"/>
                          </a:solidFill>
                          <a:latin typeface="PingFang SC"/>
                        </a:rPr>
                        <a:t>不匹配时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334155"/>
                          </a:solidFill>
                          <a:latin typeface="PingFang SC"/>
                        </a:rPr>
                        <a:t>跳过 filter 内部的所有步骤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334155"/>
                          </a:solidFill>
                          <a:latin typeface="PingFang SC"/>
                        </a:rPr>
                        <a:t>走 &lt;otherwise&gt;；没写就直接跳过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F172A"/>
                          </a:solidFill>
                          <a:latin typeface="PingFang SC"/>
                        </a:rPr>
                        <a:t>语义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334155"/>
                          </a:solidFill>
                          <a:latin typeface="PingFang SC"/>
                        </a:rPr>
                        <a:t>"这一段要不要做" —— 守卫 / 开关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334155"/>
                          </a:solidFill>
                          <a:latin typeface="PingFang SC"/>
                        </a:rPr>
                        <a:t>"该做哪一段" —— 多路选择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F172A"/>
                          </a:solidFill>
                          <a:latin typeface="PingFang SC"/>
                        </a:rPr>
                        <a:t>匹配策略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334155"/>
                          </a:solidFill>
                          <a:latin typeface="PingFang SC"/>
                        </a:rPr>
                        <a:t>单一谓词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334155"/>
                          </a:solidFill>
                          <a:latin typeface="PingFang SC"/>
                        </a:rPr>
                        <a:t>自上而下，命中即停，只走一条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F172A"/>
                          </a:solidFill>
                          <a:latin typeface="PingFang SC"/>
                        </a:rPr>
                        <a:t>常见误用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334155"/>
                          </a:solidFill>
                          <a:latin typeface="PingFang SC"/>
                        </a:rPr>
                        <a:t>以为它会终止整条路由（不会！）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334155"/>
                          </a:solidFill>
                          <a:latin typeface="PingFang SC"/>
                        </a:rPr>
                        <a:t>以为多个 &lt;when&gt; 会都执行（不会！）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F172A"/>
                          </a:solidFill>
                          <a:latin typeface="PingFang SC"/>
                        </a:rPr>
                        <a:t>典型场景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334155"/>
                          </a:solidFill>
                          <a:latin typeface="PingFang SC"/>
                        </a:rPr>
                        <a:t>风控守卫、灰度开关、脏数据丢弃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334155"/>
                          </a:solidFill>
                          <a:latin typeface="PingFang SC"/>
                        </a:rPr>
                        <a:t>渠道分流、订单定级、多版本兼容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66928" y="5138928"/>
            <a:ext cx="11064240" cy="1005840"/>
          </a:xfrm>
          <a:prstGeom prst="roundRect">
            <a:avLst>
              <a:gd name="adj" fmla="val 8000"/>
            </a:avLst>
          </a:prstGeom>
          <a:solidFill>
            <a:srgbClr val="D1FAE5"/>
          </a:solidFill>
          <a:ln w="1524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266944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059669"/>
                </a:solidFill>
                <a:latin typeface="PingFang SC"/>
              </a:rPr>
              <a:t>共同点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559552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PingFang SC"/>
              </a:rPr>
              <a:t>两者都不会终止路由 —— 它们之后的节点照常执行。真要终止请用 &lt;stop/&gt;。正因如此，API-2 被 filter 拦下的请求仍能拿到 200 响应，API-6 被风控拒绝的订单也能返回结构完整的 JSON。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19088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94A3B8"/>
                </a:solidFill>
                <a:latin typeface="PingFang SC"/>
              </a:rPr>
              <a:t>对应 camel/route-api2-dispatch.xml 中的注释表格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6675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94A3B8"/>
                </a:solidFill>
                <a:latin typeface="PingFang S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691B6"/>
                </a:solidFill>
                <a:latin typeface="PingFang SC"/>
              </a:rPr>
              <a:t>速查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0F172A"/>
                </a:solidFill>
                <a:latin typeface="PingFang SC"/>
              </a:rPr>
              <a:t>Simple 表达式速查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07007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PingFang SC"/>
              </a:rPr>
              <a:t>Camel 内置的表达式语言，90% 的取值和判断都用它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1371600" cy="41148"/>
          </a:xfrm>
          <a:prstGeom prst="rect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19072"/>
          <a:ext cx="5532119" cy="33101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4132"/>
                <a:gridCol w="3097987"/>
              </a:tblGrid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ingFang SC"/>
                        </a:rPr>
                        <a:t>取值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ingFang SC"/>
                        </a:rPr>
                        <a:t>含义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Menlo"/>
                        </a:rPr>
                        <a:t>${body}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整个消息体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Menlo"/>
                        </a:rPr>
                        <a:t>${body[amount]}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Body 是 Map 时取 key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Menlo"/>
                        </a:rPr>
                        <a:t>${body[items][0][sku]}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嵌套取值，支持下标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Menlo"/>
                        </a:rPr>
                        <a:t>${header.orderId}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取 Header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Menlo"/>
                        </a:rPr>
                        <a:t>${exchangeProperty.originalOrder}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取 Property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Menlo"/>
                        </a:rPr>
                        <a:t>${exchangeId}  ${routeId}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本次交换 / 当前路由的 id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Menlo"/>
                        </a:rPr>
                        <a:t>${date:now:yyyy-MM-dd}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当前时间，可指定格式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Menlo"/>
                        </a:rPr>
                        <a:t>${bean:myBean?method=calc}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调用 Spring Bean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327648" y="1719072"/>
          <a:ext cx="5303519" cy="33101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7478"/>
                <a:gridCol w="3076041"/>
              </a:tblGrid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ingFang SC"/>
                        </a:rPr>
                        <a:t>判断 / 运算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ingFang SC"/>
                        </a:rPr>
                        <a:t>说明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Menlo"/>
                        </a:rPr>
                        <a:t>${body[amount]} &amp;gt; 10000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数值比较；XML 里 &gt; 要写 &amp;gt;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Menlo"/>
                        </a:rPr>
                        <a:t>${header.decision} == 'APPROVED'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字符串相等，单引号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Menlo"/>
                        </a:rPr>
                        <a:t>${header.lane} in 'VIP,APP_FAST'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在集合里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Menlo"/>
                        </a:rPr>
                        <a:t>${body[channel]} regex '^A.*'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正则匹配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Menlo"/>
                        </a:rPr>
                        <a:t>${header.x} != null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判空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Menlo"/>
                        </a:rPr>
                        <a:t>${body[items].size()} &amp;gt; 0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集合长度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Menlo"/>
                        </a:rPr>
                        <a:t>${body[amount]} range '100..5000'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区间判断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PingFang SC"/>
                        </a:rPr>
                        <a:t>\${...}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转义：输出字面量 ${...}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66928" y="5440680"/>
            <a:ext cx="11064240" cy="694944"/>
          </a:xfrm>
          <a:prstGeom prst="roundRect">
            <a:avLst>
              <a:gd name="adj" fmla="val 6000"/>
            </a:avLst>
          </a:prstGeom>
          <a:solidFill>
            <a:srgbClr val="FFE4E6"/>
          </a:solidFill>
          <a:ln w="6350">
            <a:solidFill>
              <a:srgbClr val="FFE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5440680"/>
            <a:ext cx="50292" cy="694944"/>
          </a:xfrm>
          <a:prstGeom prst="rect">
            <a:avLst/>
          </a:prstGeom>
          <a:solidFill>
            <a:srgbClr val="BE1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5559552"/>
            <a:ext cx="685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BE123C"/>
                </a:solidFill>
                <a:latin typeface="PingFang SC"/>
              </a:rPr>
              <a:t>选型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35607" y="5559552"/>
            <a:ext cx="100126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PingFang SC"/>
              </a:rPr>
              <a:t>Simple 写不下的才换 &lt;jsonpath&gt;（深层 JSON）或 &lt;method&gt;/&lt;bean&gt;（复杂逻辑）。不要为了一个取值就写 Processor —— 那是本项目里最常见的过度设计。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19088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94A3B8"/>
                </a:solidFill>
                <a:latin typeface="PingFang SC"/>
              </a:rPr>
              <a:t>本项目 API-2 / API-6 的 &lt;when&gt; 与 &lt;filter&gt; 都用 Simple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19088"/>
            <a:ext cx="6675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94A3B8"/>
                </a:solidFill>
                <a:latin typeface="PingFang S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691B6"/>
                </a:solidFill>
                <a:latin typeface="PingFang SC"/>
              </a:rPr>
              <a:t>标签 4/6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0F172A"/>
                </a:solidFill>
                <a:latin typeface="PingFang SC"/>
              </a:rPr>
              <a:t>API-3　ProducerTemplate：从路由外面发消息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07007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PingFang SC"/>
              </a:rPr>
              <a:t>POST /api/v1/orders/quote —— 调远程 HTTP，也调本地路由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1371600" cy="41148"/>
          </a:xfrm>
          <a:prstGeom prst="rect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6858000" cy="3003803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 w="9525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20240"/>
            <a:ext cx="6400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7DD3FC"/>
                </a:solidFill>
                <a:latin typeface="PingFang SC"/>
              </a:rPr>
              <a:t>bean/RemoteCallService.java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194560"/>
            <a:ext cx="6400800" cy="2638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// 用法 1：调用远程 HTTP API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String raw = producerTemplate.requestBodyAndHeaders(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      "http://localhost:8080/mock/remote/fx-rate?bridgeEndpoint=true",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      json,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      Map.of(Exchange.HTTP_METHOD, "POST",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             Exchange.CONTENT_TYPE, "application/json"),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      String.class);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// 用法 2：回调本地 Camel 路由（direct: 同步、同线程）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Map&lt;String,Object&gt; fee = producerTemplate.requestBody(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      "direct:api3-calc-fee", request, Map.class);</a:t>
            </a:r>
          </a:p>
        </p:txBody>
      </p:sp>
      <p:sp>
        <p:nvSpPr>
          <p:cNvPr id="10" name="Oval 9"/>
          <p:cNvSpPr/>
          <p:nvPr/>
        </p:nvSpPr>
        <p:spPr>
          <a:xfrm>
            <a:off x="7699248" y="1947672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36992" y="1874519"/>
            <a:ext cx="36941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PingFang SC"/>
              </a:rPr>
              <a:t>它是什么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36992" y="2130551"/>
            <a:ext cx="369417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PingFang SC"/>
              </a:rPr>
              <a:t>Camel 版的 RestTemplate，目标可以是任何组件</a:t>
            </a:r>
          </a:p>
        </p:txBody>
      </p:sp>
      <p:sp>
        <p:nvSpPr>
          <p:cNvPr id="13" name="Oval 12"/>
          <p:cNvSpPr/>
          <p:nvPr/>
        </p:nvSpPr>
        <p:spPr>
          <a:xfrm>
            <a:off x="7699248" y="2798064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36992" y="2724912"/>
            <a:ext cx="36941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PingFang SC"/>
              </a:rPr>
              <a:t>sendBody(...)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36992" y="2980944"/>
            <a:ext cx="36941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PingFang SC"/>
              </a:rPr>
              <a:t>InOnly：发了就走，不等返回</a:t>
            </a:r>
          </a:p>
        </p:txBody>
      </p:sp>
      <p:sp>
        <p:nvSpPr>
          <p:cNvPr id="16" name="Oval 15"/>
          <p:cNvSpPr/>
          <p:nvPr/>
        </p:nvSpPr>
        <p:spPr>
          <a:xfrm>
            <a:off x="7699248" y="3451860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36992" y="3378708"/>
            <a:ext cx="36941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PingFang SC"/>
              </a:rPr>
              <a:t>requestBody(...)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36992" y="3634739"/>
            <a:ext cx="36941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PingFang SC"/>
              </a:rPr>
              <a:t>InOut：等待并返回结果</a:t>
            </a:r>
          </a:p>
        </p:txBody>
      </p:sp>
      <p:sp>
        <p:nvSpPr>
          <p:cNvPr id="19" name="Oval 18"/>
          <p:cNvSpPr/>
          <p:nvPr/>
        </p:nvSpPr>
        <p:spPr>
          <a:xfrm>
            <a:off x="7699248" y="4105656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36992" y="4032504"/>
            <a:ext cx="36941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PingFang SC"/>
              </a:rPr>
              <a:t>Bean 从哪来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36992" y="4288536"/>
            <a:ext cx="369417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PingFang SC"/>
              </a:rPr>
              <a:t>&lt;camelContext&gt; 自动注册了名为 template 的 Bean</a:t>
            </a:r>
          </a:p>
        </p:txBody>
      </p:sp>
      <p:sp>
        <p:nvSpPr>
          <p:cNvPr id="22" name="Oval 21"/>
          <p:cNvSpPr/>
          <p:nvPr/>
        </p:nvSpPr>
        <p:spPr>
          <a:xfrm>
            <a:off x="7699248" y="4956048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36992" y="4882896"/>
            <a:ext cx="36941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PingFang SC"/>
              </a:rPr>
              <a:t>必须单例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36992" y="5138928"/>
            <a:ext cx="369417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PingFang SC"/>
              </a:rPr>
              <a:t>内部有 Endpoint 缓存与线程池，切忌每次 new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230368"/>
            <a:ext cx="10881360" cy="905256"/>
          </a:xfrm>
          <a:prstGeom prst="roundRect">
            <a:avLst>
              <a:gd name="adj" fmla="val 6000"/>
            </a:avLst>
          </a:prstGeom>
          <a:solidFill>
            <a:srgbClr val="E0F2FE"/>
          </a:solidFill>
          <a:ln w="6350">
            <a:solidFill>
              <a:srgbClr val="E0F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8368" y="5230368"/>
            <a:ext cx="50292" cy="905256"/>
          </a:xfrm>
          <a:prstGeom prst="rect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7" y="5349240"/>
            <a:ext cx="685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691B6"/>
                </a:solidFill>
                <a:latin typeface="PingFang SC"/>
              </a:rPr>
              <a:t>对照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7048" y="5349240"/>
            <a:ext cx="982980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PingFang SC"/>
              </a:rPr>
              <a:t>路由里用 &lt;to&gt; 发消息，Java 代码里用 ProducerTemplate 发消息 —— 两者走的是同一套 Component/Endpoint 机制。路由里想调 Spring Bean 则写 &lt;to uri="bean:xxx?method=yyy"/&gt;。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6419088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94A3B8"/>
                </a:solidFill>
                <a:latin typeface="PingFang SC"/>
              </a:rPr>
              <a:t>注入时记得加 @Lazy，否则会触发循环依赖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19088"/>
            <a:ext cx="6675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94A3B8"/>
                </a:solidFill>
                <a:latin typeface="PingFang S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691B6"/>
                </a:solidFill>
                <a:latin typeface="PingFang SC"/>
              </a:rPr>
              <a:t>标签 5/6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0F172A"/>
                </a:solidFill>
                <a:latin typeface="PingFang SC"/>
              </a:rPr>
              <a:t>API-4　&lt;multicast&gt; + aggregationStrategy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07007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PingFang SC"/>
              </a:rPr>
              <a:t>POST /api/v1/orders/check —— 三路风控并行执行再合并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1371600" cy="41148"/>
          </a:xfrm>
          <a:prstGeom prst="rect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6035040" cy="1929384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 w="9525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20240"/>
            <a:ext cx="55778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7DD3FC"/>
                </a:solidFill>
                <a:latin typeface="PingFang SC"/>
              </a:rPr>
              <a:t>camel/route-api4-multicast.xml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194560"/>
            <a:ext cx="5577840" cy="1563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&lt;multicast aggregationStrategy="scoreAggregationStrategy"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           parallelProcessing="true"&gt;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  &lt;to uri="direct:api4-risk"/&gt;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  &lt;to uri="direct:api4-credit"/&gt;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  &lt;to uri="direct:api4-inventory"/&gt;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&lt;/multicast&gt;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858768"/>
            <a:ext cx="6035040" cy="2359151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 w="9525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4023359"/>
            <a:ext cx="55778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7DD3FC"/>
                </a:solidFill>
                <a:latin typeface="PingFang SC"/>
              </a:rPr>
              <a:t>strategy/ScoreAggregationStrategy.java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4297679"/>
            <a:ext cx="5577840" cy="19933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public Exchange aggregate(Exchange old, Exchange neu) {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  if (old == null) {          // 第一次：把 neu 当种子返回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      neu.getIn().setBody(newAccumulator(neu));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      return neu;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  }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  merge(old, neu);            // 之后：合并进 old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  return old;                 // 并且必须返回 old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}</a:t>
            </a:r>
          </a:p>
        </p:txBody>
      </p:sp>
      <p:sp>
        <p:nvSpPr>
          <p:cNvPr id="13" name="Oval 12"/>
          <p:cNvSpPr/>
          <p:nvPr/>
        </p:nvSpPr>
        <p:spPr>
          <a:xfrm>
            <a:off x="6967728" y="1947672"/>
            <a:ext cx="91440" cy="91440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05472" y="1874519"/>
            <a:ext cx="44256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PingFang SC"/>
              </a:rPr>
              <a:t>&lt;multicast&gt;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05472" y="2130551"/>
            <a:ext cx="44256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PingFang SC"/>
              </a:rPr>
              <a:t>把同一条消息复制给多个目标（Scatter）</a:t>
            </a:r>
          </a:p>
        </p:txBody>
      </p:sp>
      <p:sp>
        <p:nvSpPr>
          <p:cNvPr id="16" name="Oval 15"/>
          <p:cNvSpPr/>
          <p:nvPr/>
        </p:nvSpPr>
        <p:spPr>
          <a:xfrm>
            <a:off x="6967728" y="2601468"/>
            <a:ext cx="91440" cy="91440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05472" y="2528315"/>
            <a:ext cx="44256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PingFang SC"/>
              </a:rPr>
              <a:t>parallelProcessing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05472" y="2784347"/>
            <a:ext cx="44256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PingFang SC"/>
              </a:rPr>
              <a:t>分支并发执行；调用方仍等全部完成</a:t>
            </a:r>
          </a:p>
        </p:txBody>
      </p:sp>
      <p:sp>
        <p:nvSpPr>
          <p:cNvPr id="19" name="Oval 18"/>
          <p:cNvSpPr/>
          <p:nvPr/>
        </p:nvSpPr>
        <p:spPr>
          <a:xfrm>
            <a:off x="6967728" y="3255263"/>
            <a:ext cx="91440" cy="91440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05472" y="3182111"/>
            <a:ext cx="44256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PingFang SC"/>
              </a:rPr>
              <a:t>aggregationStrategy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05472" y="3438143"/>
            <a:ext cx="442569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PingFang SC"/>
              </a:rPr>
              <a:t>Camel 4 XML 里是属性，值为 Bean 名（不是嵌套元素）</a:t>
            </a:r>
          </a:p>
        </p:txBody>
      </p:sp>
      <p:sp>
        <p:nvSpPr>
          <p:cNvPr id="22" name="Oval 21"/>
          <p:cNvSpPr/>
          <p:nvPr/>
        </p:nvSpPr>
        <p:spPr>
          <a:xfrm>
            <a:off x="6967728" y="4105655"/>
            <a:ext cx="91440" cy="91440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05472" y="4032503"/>
            <a:ext cx="44256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PingFang SC"/>
              </a:rPr>
              <a:t>调用约定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05472" y="4288536"/>
            <a:ext cx="442569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PingFang SC"/>
              </a:rPr>
              <a:t>首次 oldExchange==null；之后合并进 old 并返回 old</a:t>
            </a:r>
          </a:p>
        </p:txBody>
      </p:sp>
      <p:sp>
        <p:nvSpPr>
          <p:cNvPr id="25" name="Oval 24"/>
          <p:cNvSpPr/>
          <p:nvPr/>
        </p:nvSpPr>
        <p:spPr>
          <a:xfrm>
            <a:off x="6967728" y="4956047"/>
            <a:ext cx="91440" cy="91440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05472" y="4882895"/>
            <a:ext cx="44256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PingFang SC"/>
              </a:rPr>
              <a:t>线程安全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05472" y="5138927"/>
            <a:ext cx="44256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PingFang SC"/>
              </a:rPr>
              <a:t>默认串行调用，无需自己加锁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67728" y="5358384"/>
            <a:ext cx="4663440" cy="1115568"/>
          </a:xfrm>
          <a:prstGeom prst="roundRect">
            <a:avLst>
              <a:gd name="adj" fmla="val 6000"/>
            </a:avLst>
          </a:prstGeom>
          <a:solidFill>
            <a:srgbClr val="FFE4E6"/>
          </a:solidFill>
          <a:ln w="6350">
            <a:solidFill>
              <a:srgbClr val="FFE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67728" y="5358384"/>
            <a:ext cx="50292" cy="1115568"/>
          </a:xfrm>
          <a:prstGeom prst="rect">
            <a:avLst/>
          </a:prstGeom>
          <a:solidFill>
            <a:srgbClr val="BE1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50608" y="5477256"/>
            <a:ext cx="685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BE123C"/>
                </a:solidFill>
                <a:latin typeface="PingFang SC"/>
              </a:rPr>
              <a:t>必看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36408" y="5477256"/>
            <a:ext cx="3611879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PingFang SC"/>
              </a:rPr>
              <a:t>不指定 aggregationStrategy 时，multicast 会丢弃全部分支结果，继续用进入之前的原始消息 —— 新手第一大坑。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19088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94A3B8"/>
                </a:solidFill>
                <a:latin typeface="PingFang SC"/>
              </a:rPr>
              <a:t>控制台可见 3 个 Multicast 线程交错打分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19088"/>
            <a:ext cx="6675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94A3B8"/>
                </a:solidFill>
                <a:latin typeface="PingFang S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691B6"/>
                </a:solidFill>
                <a:latin typeface="PingFang SC"/>
              </a:rPr>
              <a:t>标签 6/6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0F172A"/>
                </a:solidFill>
                <a:latin typeface="PingFang SC"/>
              </a:rPr>
              <a:t>API-5　&lt;split&gt; &lt;wireTap&gt; &lt;toD&gt;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07007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PingFang SC"/>
              </a:rPr>
              <a:t>POST /api/v1/orders/split —— 拆批量、旁路埋点、运行期选目标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1371600" cy="41148"/>
          </a:xfrm>
          <a:prstGeom prst="rect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719072"/>
            <a:ext cx="6675120" cy="2144268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 w="9525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883664"/>
            <a:ext cx="62179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7DD3FC"/>
                </a:solidFill>
                <a:latin typeface="PingFang SC"/>
              </a:rPr>
              <a:t>camel/route-api5-split.xml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157984"/>
            <a:ext cx="6217920" cy="17785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&lt;wireTap uri="direct:audit-log"/&gt;          ← 异步副本，主流程不等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&lt;split aggregationStrategy="itemCollectAggregationStrategy"&gt;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&lt;jsonpath&gt;$.items&lt;/jsonpath&gt;              ← 拆分表达式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&lt;process ref="itemNormalizeProcessor"/&gt;   ← 归一化出 itemChannel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&lt;toD uri="direct:item-${header.itemChannel}"/&gt;  ← 运行期求值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&lt;/split&gt;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" y="4041648"/>
          <a:ext cx="10881358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4576"/>
                <a:gridCol w="3808475"/>
                <a:gridCol w="5658307"/>
              </a:tblGrid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ingFang SC"/>
                        </a:rPr>
                        <a:t>标签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ingFang SC"/>
                        </a:rPr>
                        <a:t>语义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ingFang SC"/>
                        </a:rPr>
                        <a:t>关键细节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0F172A"/>
                          </a:solidFill>
                          <a:latin typeface="Menlo"/>
                        </a:rPr>
                        <a:t>&lt;split&gt;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34155"/>
                          </a:solidFill>
                          <a:latin typeface="PingFang SC"/>
                        </a:rPr>
                        <a:t>一条消息 → N 条子消息，逐条走内部步骤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34155"/>
                          </a:solidFill>
                          <a:latin typeface="PingFang SC"/>
                        </a:rPr>
                        <a:t>自动带 CamelSplitIndex / SplitSize / SplitComplete；不给聚合策略则输出仍是原消息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0F172A"/>
                          </a:solidFill>
                          <a:latin typeface="Menlo"/>
                        </a:rPr>
                        <a:t>&lt;wireTap&gt;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34155"/>
                          </a:solidFill>
                          <a:latin typeface="PingFang SC"/>
                        </a:rPr>
                        <a:t>发送 Exchange 副本到另一端点，发了就不管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34155"/>
                          </a:solidFill>
                          <a:latin typeface="PingFang SC"/>
                        </a:rPr>
                        <a:t>异步、独立线程；主流程不等待、拿不到结果、也不感知它的异常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0F172A"/>
                          </a:solidFill>
                          <a:latin typeface="Menlo"/>
                        </a:rPr>
                        <a:t>&lt;toD&gt;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34155"/>
                          </a:solidFill>
                          <a:latin typeface="PingFang SC"/>
                        </a:rPr>
                        <a:t>URI 在运行期求值后才确定目标端点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34155"/>
                          </a:solidFill>
                          <a:latin typeface="Menlo"/>
                        </a:rPr>
                        <a:t>&lt;to&gt; 启动时就固定，&lt;toD&gt; 每条消息可不同；目标必须存在否则 NoSuchEndpointException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66928" y="6419088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94A3B8"/>
                </a:solidFill>
                <a:latin typeface="PingFang SC"/>
              </a:rPr>
              <a:t>TOY 类型会被归一化成 OTHER，进 WH-GENERAL-BJ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6675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94A3B8"/>
                </a:solidFill>
                <a:latin typeface="PingFang S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691B6"/>
                </a:solidFill>
                <a:latin typeface="PingFang SC"/>
              </a:rPr>
              <a:t>速查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0F172A"/>
                </a:solidFill>
                <a:latin typeface="PingFang SC"/>
              </a:rPr>
              <a:t>四个"一变多"的 EIP，别再搞混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07007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PingFang SC"/>
              </a:rPr>
              <a:t>本项目 API-6 里这四个会同时出现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1371600" cy="41148"/>
          </a:xfrm>
          <a:prstGeom prst="rect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83080"/>
          <a:ext cx="11064238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8993"/>
                <a:gridCol w="2212848"/>
                <a:gridCol w="2434132"/>
                <a:gridCol w="1659636"/>
                <a:gridCol w="3208629"/>
              </a:tblGrid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ingFang SC"/>
                        </a:rPr>
                        <a:t>EIP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ingFang SC"/>
                        </a:rPr>
                        <a:t>消息怎么变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ingFang SC"/>
                        </a:rPr>
                        <a:t>目标怎么变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ingFang SC"/>
                        </a:rPr>
                        <a:t>同步?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ingFang SC"/>
                        </a:rPr>
                        <a:t>结果怎么回来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0F172A"/>
                          </a:solidFill>
                          <a:latin typeface="Menlo"/>
                        </a:rPr>
                        <a:t>&lt;multicast&gt;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34155"/>
                          </a:solidFill>
                          <a:latin typeface="PingFang SC"/>
                        </a:rPr>
                        <a:t>不变（复制副本）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34155"/>
                          </a:solidFill>
                          <a:latin typeface="PingFang SC"/>
                        </a:rPr>
                        <a:t>多个不同目标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34155"/>
                          </a:solidFill>
                          <a:latin typeface="PingFang SC"/>
                        </a:rPr>
                        <a:t>是，等全部完成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34155"/>
                          </a:solidFill>
                          <a:latin typeface="PingFang SC"/>
                        </a:rPr>
                        <a:t>aggregationStrategy 合并，不给就丢弃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0F172A"/>
                          </a:solidFill>
                          <a:latin typeface="Menlo"/>
                        </a:rPr>
                        <a:t>&lt;split&gt;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34155"/>
                          </a:solidFill>
                          <a:latin typeface="PingFang SC"/>
                        </a:rPr>
                        <a:t>拆成 N 条子消息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34155"/>
                          </a:solidFill>
                          <a:latin typeface="PingFang SC"/>
                        </a:rPr>
                        <a:t>同一段逻辑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34155"/>
                          </a:solidFill>
                          <a:latin typeface="PingFang SC"/>
                        </a:rPr>
                        <a:t>是，等全部完成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34155"/>
                          </a:solidFill>
                          <a:latin typeface="PingFang SC"/>
                        </a:rPr>
                        <a:t>aggregationStrategy 收集，不给就还是原消息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0F172A"/>
                          </a:solidFill>
                          <a:latin typeface="Menlo"/>
                        </a:rPr>
                        <a:t>&lt;wireTap&gt;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34155"/>
                          </a:solidFill>
                          <a:latin typeface="PingFang SC"/>
                        </a:rPr>
                        <a:t>复制副本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34155"/>
                          </a:solidFill>
                          <a:latin typeface="PingFang SC"/>
                        </a:rPr>
                        <a:t>一个旁路端点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34155"/>
                          </a:solidFill>
                          <a:latin typeface="PingFang SC"/>
                        </a:rPr>
                        <a:t>否，立即返回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34155"/>
                          </a:solidFill>
                          <a:latin typeface="PingFang SC"/>
                        </a:rPr>
                        <a:t>拿不到，也不关心异常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0F172A"/>
                          </a:solidFill>
                          <a:latin typeface="Menlo"/>
                        </a:rPr>
                        <a:t>&lt;toD&gt;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34155"/>
                          </a:solidFill>
                          <a:latin typeface="PingFang SC"/>
                        </a:rPr>
                        <a:t>不变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34155"/>
                          </a:solidFill>
                          <a:latin typeface="PingFang SC"/>
                        </a:rPr>
                        <a:t>运行期求值出的单个目标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34155"/>
                          </a:solidFill>
                          <a:latin typeface="PingFang SC"/>
                        </a:rPr>
                        <a:t>是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34155"/>
                          </a:solidFill>
                          <a:latin typeface="PingFang SC"/>
                        </a:rPr>
                        <a:t>正常返回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66928" y="4617720"/>
            <a:ext cx="11064240" cy="694944"/>
          </a:xfrm>
          <a:prstGeom prst="roundRect">
            <a:avLst>
              <a:gd name="adj" fmla="val 6000"/>
            </a:avLst>
          </a:prstGeom>
          <a:solidFill>
            <a:srgbClr val="EDE9FE"/>
          </a:solidFill>
          <a:ln w="6350">
            <a:solidFill>
              <a:srgbClr val="EDE9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4617720"/>
            <a:ext cx="50292" cy="694944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4736592"/>
            <a:ext cx="685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6D28D9"/>
                </a:solidFill>
                <a:latin typeface="PingFang SC"/>
              </a:rPr>
              <a:t>记忆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7" y="4736592"/>
            <a:ext cx="100126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PingFang SC"/>
              </a:rPr>
              <a:t>一句话记忆：multicast 是"同一条消息发给不同的人"，split 是"把一条消息拆开发给同一个人"，wireTap 是"抄送一份就走"，toD 是"收件人到了才决定"。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94A3B8"/>
                </a:solidFill>
                <a:latin typeface="PingFang SC"/>
              </a:rPr>
              <a:t>四者都在 API-6 中同时出现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19088"/>
            <a:ext cx="6675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94A3B8"/>
                </a:solidFill>
                <a:latin typeface="PingFang S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691B6"/>
                </a:solidFill>
                <a:latin typeface="PingFang SC"/>
              </a:rPr>
              <a:t>速查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0F172A"/>
                </a:solidFill>
                <a:latin typeface="PingFang SC"/>
              </a:rPr>
              <a:t>Endpoint URI 速查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07007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PingFang SC"/>
              </a:rPr>
              <a:t>URI 的 scheme 决定用哪个 Component，? 后面是该 Component 的参数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1371600" cy="41148"/>
          </a:xfrm>
          <a:prstGeom prst="rect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19072"/>
          <a:ext cx="11064239" cy="3602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3761841"/>
                <a:gridCol w="5089550"/>
              </a:tblGrid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ingFang SC"/>
                        </a:rPr>
                        <a:t>URI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ingFang SC"/>
                        </a:rPr>
                        <a:t>作用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ingFang SC"/>
                        </a:rPr>
                        <a:t>本项目里用在哪 / 常用参数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PingFang SC"/>
                        </a:rPr>
                        <a:t>direct:name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同步、同线程的内存端点，等价于一次方法调用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所有 REST 入口都 &lt;to&gt; 到 direct:；子流程的首选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PingFang SC"/>
                        </a:rPr>
                        <a:t>seda:name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异步内存队列，有自己的线程池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想让下游异步且可堆积时用；?concurrentConsumers=N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PingFang SC"/>
                        </a:rPr>
                        <a:t>bean:beanName?method=x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调用 Spring 容器里的 Bean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API-3 的 &lt;to uri="bean:remoteCallService?method=handle"/&gt;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PingFang SC"/>
                        </a:rPr>
                        <a:t>http://host/path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HTTP 客户端（camel-http）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?bridgeEndpoint=true 忽略入站路径；配合 Exchange.HTTP_METHOD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PingFang SC"/>
                        </a:rPr>
                        <a:t>platform-http:/path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把端点挂到 Spring Boot 内嵌 Tomcat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由 &lt;restConfiguration component="platform-http"&gt; 间接使用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PingFang SC"/>
                        </a:rPr>
                        <a:t>log:name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把消息打到日志（独立于 &lt;log&gt; 标签）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?showHeaders=true&amp;showBody=true 调试时很好用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PingFang SC"/>
                        </a:rPr>
                        <a:t>timer:name?period=5000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定时触发器，常用作 &lt;from&gt;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?delay= 首次延迟，?repeatCount=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PingFang SC"/>
                        </a:rPr>
                        <a:t>file:dir?noop=true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读写文件目录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?noop 不删源文件，?move= 处理后移动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66928" y="5623560"/>
            <a:ext cx="11064240" cy="694944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 w="6350">
            <a:solidFill>
              <a:srgbClr val="FEF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5623560"/>
            <a:ext cx="50292" cy="6949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5742432"/>
            <a:ext cx="685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B45309"/>
                </a:solidFill>
                <a:latin typeface="PingFang SC"/>
              </a:rPr>
              <a:t>选读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7" y="5742432"/>
            <a:ext cx="100126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PingFang SC"/>
              </a:rPr>
              <a:t>本项目只用到 direct / bean / http / platform-http，其余是为了说明"换协议只是换 URI 前缀"，路由逻辑一行都不用改。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94A3B8"/>
                </a:solidFill>
                <a:latin typeface="PingFang SC"/>
              </a:rPr>
              <a:t>组件参数查 camel.apache.org 对应 component 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19088"/>
            <a:ext cx="6675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94A3B8"/>
                </a:solidFill>
                <a:latin typeface="PingFang SC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691B6"/>
                </a:solidFill>
                <a:latin typeface="PingFang SC"/>
              </a:rPr>
              <a:t>速查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0F172A"/>
                </a:solidFill>
                <a:latin typeface="PingFang SC"/>
              </a:rPr>
              <a:t>Camel 自动写入的 Header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07007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PingFang SC"/>
              </a:rPr>
              <a:t>很多行为不用自己传参，Camel 已经放在 Header 里了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1371600" cy="41148"/>
          </a:xfrm>
          <a:prstGeom prst="rect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19072"/>
          <a:ext cx="55321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</a:tblGrid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ingFang SC"/>
                        </a:rPr>
                        <a:t>Split / Multicast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ingFang SC"/>
                        </a:rPr>
                        <a:t>含义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PingFang SC"/>
                        </a:rPr>
                        <a:t>CamelSplitIndex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当前子消息的下标，从 0 开始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PingFang SC"/>
                        </a:rPr>
                        <a:t>CamelSplitSize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子消息总数（非流式拆分时才有）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PingFang SC"/>
                        </a:rPr>
                        <a:t>CamelSplitComplete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是否最后一条子消息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PingFang SC"/>
                        </a:rPr>
                        <a:t>CamelMulticastIndex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multicast 分支下标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PingFang SC"/>
                        </a:rPr>
                        <a:t>CamelMulticastComplete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是否最后一个分支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PingFang SC"/>
                        </a:rPr>
                        <a:t>CamelFilterMatched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filter 是否匹配（布尔）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PingFang SC"/>
                        </a:rPr>
                        <a:t>CamelToEndpoint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上一次 &lt;to&gt; 实际发往的端点 URI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327648" y="1719072"/>
          <a:ext cx="530351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9619"/>
                <a:gridCol w="2863900"/>
              </a:tblGrid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ingFang SC"/>
                        </a:rPr>
                        <a:t>HTTP / 通用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ingFang SC"/>
                        </a:rPr>
                        <a:t>含义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PingFang SC"/>
                        </a:rPr>
                        <a:t>CamelHttpMethod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请求方法；常量 Exchange.HTTP_METHOD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PingFang SC"/>
                        </a:rPr>
                        <a:t>CamelHttpResponseCode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响应码，REST 出站可用它改状态码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PingFang SC"/>
                        </a:rPr>
                        <a:t>CamelHttpUri / CamelHttpPath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目标 URI 与路径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PingFang SC"/>
                        </a:rPr>
                        <a:t>CamelHttpQuery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查询串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PingFang SC"/>
                        </a:rPr>
                        <a:t>Content-Type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内容类型；常量 Exchange.CONTENT_TYPE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PingFang SC"/>
                        </a:rPr>
                        <a:t>breadcrumbId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跨路由链路 id（useBreadcrumb=true 时）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PingFang SC"/>
                        </a:rPr>
                        <a:t>CamelExceptionCaught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onException 里拿到的异常对象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66928" y="5394960"/>
            <a:ext cx="11064240" cy="905256"/>
          </a:xfrm>
          <a:prstGeom prst="roundRect">
            <a:avLst>
              <a:gd name="adj" fmla="val 6000"/>
            </a:avLst>
          </a:prstGeom>
          <a:solidFill>
            <a:srgbClr val="FFE4E6"/>
          </a:solidFill>
          <a:ln w="6350">
            <a:solidFill>
              <a:srgbClr val="FFE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5394960"/>
            <a:ext cx="50292" cy="905256"/>
          </a:xfrm>
          <a:prstGeom prst="rect">
            <a:avLst/>
          </a:prstGeom>
          <a:solidFill>
            <a:srgbClr val="BE1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5513832"/>
            <a:ext cx="685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BE123C"/>
                </a:solidFill>
                <a:latin typeface="PingFang SC"/>
              </a:rPr>
              <a:t>写法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35607" y="5513832"/>
            <a:ext cx="1001268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PingFang SC"/>
              </a:rPr>
              <a:t>Java 里别写字符串字面量，用 org.apache.camel.Exchange 上的常量（如 Exchange.SPLIT_INDEX、Exchange.HTTP_METHOD）；本项目 ItemNormalizeProcessor 与 RemoteCallService 就是这么写的。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19088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94A3B8"/>
                </a:solidFill>
                <a:latin typeface="PingFang SC"/>
              </a:rPr>
              <a:t>XML 里用 ${header.CamelSplitIndex} 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19088"/>
            <a:ext cx="6675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94A3B8"/>
                </a:solidFill>
                <a:latin typeface="PingFang SC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691B6"/>
                </a:solidFill>
                <a:latin typeface="PingFang SC"/>
              </a:rPr>
              <a:t>综合案例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0F172A"/>
                </a:solidFill>
                <a:latin typeface="PingFang SC"/>
              </a:rPr>
              <a:t>API-6 订单履约：一页看懂复杂编排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07007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PingFang SC"/>
              </a:rPr>
              <a:t>POST /api/v1/orders/fulfil  ·  路由 id: api6-complex-fulfilment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1371600" cy="41148"/>
          </a:xfrm>
          <a:prstGeom prst="rect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773936"/>
            <a:ext cx="2432304" cy="841248"/>
          </a:xfrm>
          <a:prstGeom prst="roundRect">
            <a:avLst>
              <a:gd name="adj" fmla="val 12000"/>
            </a:avLst>
          </a:prstGeom>
          <a:solidFill>
            <a:srgbClr val="E0F2FE"/>
          </a:solidFill>
          <a:ln w="17780">
            <a:solidFill>
              <a:srgbClr val="0691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1865376"/>
            <a:ext cx="4114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691B6"/>
                </a:solidFill>
                <a:latin typeface="PingFang SC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1856231"/>
            <a:ext cx="17922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PingFang SC"/>
              </a:rPr>
              <a:t>REST 入口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176272"/>
            <a:ext cx="21396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Menlo"/>
              </a:rPr>
              <a:t>&lt;rest&gt; &lt;post&gt; → &lt;to&gt; direct: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38144" y="1773936"/>
            <a:ext cx="2432304" cy="841248"/>
          </a:xfrm>
          <a:prstGeom prst="roundRect">
            <a:avLst>
              <a:gd name="adj" fmla="val 12000"/>
            </a:avLst>
          </a:prstGeom>
          <a:solidFill>
            <a:srgbClr val="E0F2FE"/>
          </a:solidFill>
          <a:ln w="17780">
            <a:solidFill>
              <a:srgbClr val="0691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1865376"/>
            <a:ext cx="4114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691B6"/>
                </a:solidFill>
                <a:latin typeface="PingFang SC"/>
              </a:rPr>
              <a:t>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208" y="1856231"/>
            <a:ext cx="17922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PingFang SC"/>
              </a:rPr>
              <a:t>校验 + 备份报文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448" y="2176272"/>
            <a:ext cx="21396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Menlo"/>
              </a:rPr>
              <a:t>&lt;process&gt; · &lt;setProperty&gt;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27648" y="1773936"/>
            <a:ext cx="2432304" cy="841248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 w="1778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1865376"/>
            <a:ext cx="4114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6D28D9"/>
                </a:solidFill>
                <a:latin typeface="PingFang SC"/>
              </a:rPr>
              <a:t>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39712" y="1856231"/>
            <a:ext cx="17922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PingFang SC"/>
              </a:rPr>
              <a:t>订单定级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2176272"/>
            <a:ext cx="21396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Menlo"/>
              </a:rPr>
              <a:t>&lt;choice&gt; &lt;when&gt; &lt;simple&gt;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17152" y="1773936"/>
            <a:ext cx="2432304" cy="841248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 w="1778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45168" y="1865376"/>
            <a:ext cx="4114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B45309"/>
                </a:solidFill>
                <a:latin typeface="PingFang SC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29216" y="1856231"/>
            <a:ext cx="17922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PingFang SC"/>
              </a:rPr>
              <a:t>并行风控分发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63456" y="2176272"/>
            <a:ext cx="21396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Menlo"/>
              </a:rPr>
              <a:t>&lt;multicast&gt; parallel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163824"/>
            <a:ext cx="2432304" cy="841248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 w="1778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3255264"/>
            <a:ext cx="4114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B45309"/>
                </a:solidFill>
                <a:latin typeface="PingFang SC"/>
              </a:rPr>
              <a:t>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" y="3246120"/>
            <a:ext cx="17922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PingFang SC"/>
              </a:rPr>
              <a:t>三路并行打分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" y="3566160"/>
            <a:ext cx="21396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Menlo"/>
              </a:rPr>
              <a:t>risk / credit / inventory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38144" y="3163824"/>
            <a:ext cx="2432304" cy="841248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 w="1778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66160" y="3255264"/>
            <a:ext cx="4114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59669"/>
                </a:solidFill>
                <a:latin typeface="PingFang SC"/>
              </a:rPr>
              <a:t>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50208" y="3246120"/>
            <a:ext cx="17922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PingFang SC"/>
              </a:rPr>
              <a:t>聚合总分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84448" y="3566160"/>
            <a:ext cx="21396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Menlo"/>
              </a:rPr>
              <a:t>aggregationStrategy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27648" y="3163824"/>
            <a:ext cx="2432304" cy="841248"/>
          </a:xfrm>
          <a:prstGeom prst="roundRect">
            <a:avLst>
              <a:gd name="adj" fmla="val 12000"/>
            </a:avLst>
          </a:prstGeom>
          <a:solidFill>
            <a:srgbClr val="E0F2FE"/>
          </a:solidFill>
          <a:ln w="17780">
            <a:solidFill>
              <a:srgbClr val="0691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55664" y="3255264"/>
            <a:ext cx="4114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691B6"/>
                </a:solidFill>
                <a:latin typeface="PingFang SC"/>
              </a:rPr>
              <a:t>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39712" y="3246120"/>
            <a:ext cx="17922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PingFang SC"/>
              </a:rPr>
              <a:t>风控决策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73952" y="3566160"/>
            <a:ext cx="21396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Menlo"/>
              </a:rPr>
              <a:t>&lt;process&gt; 总分 → decision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217152" y="3163824"/>
            <a:ext cx="2432304" cy="841248"/>
          </a:xfrm>
          <a:prstGeom prst="roundRect">
            <a:avLst>
              <a:gd name="adj" fmla="val 12000"/>
            </a:avLst>
          </a:prstGeom>
          <a:solidFill>
            <a:srgbClr val="FFE4E6"/>
          </a:solidFill>
          <a:ln w="17780">
            <a:solidFill>
              <a:srgbClr val="BE1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45168" y="3255264"/>
            <a:ext cx="4114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BE123C"/>
                </a:solidFill>
                <a:latin typeface="PingFang SC"/>
              </a:rPr>
              <a:t>⑧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29216" y="3246120"/>
            <a:ext cx="17922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PingFang SC"/>
              </a:rPr>
              <a:t>履约守卫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63456" y="3566160"/>
            <a:ext cx="21396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Menlo"/>
              </a:rPr>
              <a:t>&lt;filter&gt; 仅放行 APPROVED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4553712"/>
            <a:ext cx="2432304" cy="841248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 w="1778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76656" y="4645152"/>
            <a:ext cx="4114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B45309"/>
                </a:solidFill>
                <a:latin typeface="PingFang SC"/>
              </a:rPr>
              <a:t>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0704" y="4636008"/>
            <a:ext cx="17922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PingFang SC"/>
              </a:rPr>
              <a:t>拆单 + 动态分仓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4944" y="4956048"/>
            <a:ext cx="21396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Menlo"/>
              </a:rPr>
              <a:t>&lt;split&gt; + &lt;toD&gt; item-*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438144" y="4553712"/>
            <a:ext cx="2432304" cy="841248"/>
          </a:xfrm>
          <a:prstGeom prst="roundRect">
            <a:avLst>
              <a:gd name="adj" fmla="val 12000"/>
            </a:avLst>
          </a:prstGeom>
          <a:solidFill>
            <a:srgbClr val="E0F2FE"/>
          </a:solidFill>
          <a:ln w="17780">
            <a:solidFill>
              <a:srgbClr val="0691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566160" y="4645152"/>
            <a:ext cx="4114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691B6"/>
                </a:solidFill>
                <a:latin typeface="PingFang SC"/>
              </a:rPr>
              <a:t>⑩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950208" y="4636008"/>
            <a:ext cx="17922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PingFang SC"/>
              </a:rPr>
              <a:t>统一收口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84448" y="4956048"/>
            <a:ext cx="21396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Menlo"/>
              </a:rPr>
              <a:t>&lt;process&gt; 组装响应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327648" y="4553712"/>
            <a:ext cx="2432304" cy="841248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 w="1778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55664" y="4645152"/>
            <a:ext cx="4114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59669"/>
                </a:solidFill>
                <a:latin typeface="PingFang SC"/>
              </a:rPr>
              <a:t>⑪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39712" y="4636008"/>
            <a:ext cx="17922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PingFang SC"/>
              </a:rPr>
              <a:t>JSON 响应 200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73952" y="4956048"/>
            <a:ext cx="21396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Menlo"/>
              </a:rPr>
              <a:t>bindingMode=json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217152" y="4553712"/>
            <a:ext cx="2432304" cy="841248"/>
          </a:xfrm>
          <a:prstGeom prst="roundRect">
            <a:avLst>
              <a:gd name="adj" fmla="val 12000"/>
            </a:avLst>
          </a:prstGeom>
          <a:solidFill>
            <a:srgbClr val="E2E8F0"/>
          </a:solidFill>
          <a:ln w="1778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345168" y="4645152"/>
            <a:ext cx="4114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34155"/>
                </a:solidFill>
                <a:latin typeface="PingFang SC"/>
              </a:rPr>
              <a:t>⑫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729216" y="4636008"/>
            <a:ext cx="17922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PingFang SC"/>
              </a:rPr>
              <a:t>旁路审计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363456" y="4956048"/>
            <a:ext cx="21396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Menlo"/>
              </a:rPr>
              <a:t>&lt;wireTap&gt; 异步不阻塞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2980944" y="2194560"/>
            <a:ext cx="457200" cy="0"/>
          </a:xfrm>
          <a:prstGeom prst="line">
            <a:avLst/>
          </a:prstGeom>
          <a:ln w="19050">
            <a:solidFill>
              <a:srgbClr val="3341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5870448" y="2194560"/>
            <a:ext cx="457200" cy="0"/>
          </a:xfrm>
          <a:prstGeom prst="line">
            <a:avLst/>
          </a:prstGeom>
          <a:ln w="19050">
            <a:solidFill>
              <a:srgbClr val="3341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8759952" y="2194560"/>
            <a:ext cx="457200" cy="0"/>
          </a:xfrm>
          <a:prstGeom prst="line">
            <a:avLst/>
          </a:prstGeom>
          <a:ln w="19050">
            <a:solidFill>
              <a:srgbClr val="3341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2980944" y="3584448"/>
            <a:ext cx="457200" cy="0"/>
          </a:xfrm>
          <a:prstGeom prst="line">
            <a:avLst/>
          </a:prstGeom>
          <a:ln w="19050">
            <a:solidFill>
              <a:srgbClr val="3341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5870448" y="3584448"/>
            <a:ext cx="457200" cy="0"/>
          </a:xfrm>
          <a:prstGeom prst="line">
            <a:avLst/>
          </a:prstGeom>
          <a:ln w="19050">
            <a:solidFill>
              <a:srgbClr val="3341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8759952" y="3584448"/>
            <a:ext cx="457200" cy="0"/>
          </a:xfrm>
          <a:prstGeom prst="line">
            <a:avLst/>
          </a:prstGeom>
          <a:ln w="19050">
            <a:solidFill>
              <a:srgbClr val="3341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2980944" y="4974336"/>
            <a:ext cx="457200" cy="0"/>
          </a:xfrm>
          <a:prstGeom prst="line">
            <a:avLst/>
          </a:prstGeom>
          <a:ln w="19050">
            <a:solidFill>
              <a:srgbClr val="3341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5870448" y="4974336"/>
            <a:ext cx="457200" cy="0"/>
          </a:xfrm>
          <a:prstGeom prst="line">
            <a:avLst/>
          </a:prstGeom>
          <a:ln w="19050">
            <a:solidFill>
              <a:srgbClr val="3341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0433304" y="2615184"/>
            <a:ext cx="0" cy="201168"/>
          </a:xfrm>
          <a:prstGeom prst="line">
            <a:avLst/>
          </a:prstGeom>
          <a:ln w="1905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>
            <a:off x="1764792" y="2816352"/>
            <a:ext cx="8668512" cy="0"/>
          </a:xfrm>
          <a:prstGeom prst="line">
            <a:avLst/>
          </a:prstGeom>
          <a:ln w="1905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764792" y="2816352"/>
            <a:ext cx="0" cy="347472"/>
          </a:xfrm>
          <a:prstGeom prst="line">
            <a:avLst/>
          </a:prstGeom>
          <a:ln w="19050">
            <a:solidFill>
              <a:srgbClr val="B4530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10122408" y="4005072"/>
            <a:ext cx="0" cy="182880"/>
          </a:xfrm>
          <a:prstGeom prst="line">
            <a:avLst/>
          </a:prstGeom>
          <a:ln w="19050">
            <a:solidFill>
              <a:srgbClr val="0596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1764792" y="4187952"/>
            <a:ext cx="8357616" cy="0"/>
          </a:xfrm>
          <a:prstGeom prst="line">
            <a:avLst/>
          </a:prstGeom>
          <a:ln w="19050">
            <a:solidFill>
              <a:srgbClr val="0596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764792" y="4187952"/>
            <a:ext cx="0" cy="365760"/>
          </a:xfrm>
          <a:prstGeom prst="line">
            <a:avLst/>
          </a:prstGeom>
          <a:ln w="1905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1329416" y="4005072"/>
            <a:ext cx="0" cy="548640"/>
          </a:xfrm>
          <a:prstGeom prst="line">
            <a:avLst/>
          </a:prstGeom>
          <a:ln w="19050">
            <a:prstDash val="dash"/>
            <a:solidFill>
              <a:srgbClr val="3341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566928" y="2916936"/>
            <a:ext cx="3474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B45309"/>
                </a:solidFill>
                <a:latin typeface="PingFang SC"/>
              </a:rPr>
              <a:t>④ 把同一条消息复制给 3 个分支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6928" y="4306824"/>
            <a:ext cx="3474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059669"/>
                </a:solidFill>
                <a:latin typeface="PingFang SC"/>
              </a:rPr>
              <a:t>⑧ decision=APPROVED 才进入履约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253728" y="4306824"/>
            <a:ext cx="20116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334155"/>
                </a:solidFill>
                <a:latin typeface="PingFang SC"/>
              </a:rPr>
              <a:t>wireTap 发送副本即返回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548640" y="5687568"/>
            <a:ext cx="11091672" cy="694944"/>
          </a:xfrm>
          <a:prstGeom prst="roundRect">
            <a:avLst>
              <a:gd name="adj" fmla="val 6000"/>
            </a:avLst>
          </a:prstGeom>
          <a:solidFill>
            <a:srgbClr val="FFE4E6"/>
          </a:solidFill>
          <a:ln w="6350">
            <a:solidFill>
              <a:srgbClr val="FFE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48640" y="5687568"/>
            <a:ext cx="50292" cy="694944"/>
          </a:xfrm>
          <a:prstGeom prst="rect">
            <a:avLst/>
          </a:prstGeom>
          <a:solidFill>
            <a:srgbClr val="BE1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31520" y="5806440"/>
            <a:ext cx="685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BE123C"/>
                </a:solidFill>
                <a:latin typeface="PingFang SC"/>
              </a:rPr>
              <a:t>关键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417319" y="5806440"/>
            <a:ext cx="1004011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PingFang SC"/>
              </a:rPr>
              <a:t>REJECTED 时 ⑧ 的 &lt;filter&gt; 只是跳过 ⑨ 履约，路由并不终止，依然执行 ⑩ 收口并返回 200。这是 &lt;filter&gt; 与 &lt;stop/&gt; 的本质区别，也是本例总能返回结构一致响应的原因。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66928" y="6419088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94A3B8"/>
                </a:solidFill>
                <a:latin typeface="PingFang SC"/>
              </a:rPr>
              <a:t>交互式版本见 docs/api6-flow.html，图上画出了两处分叉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972800" y="6419088"/>
            <a:ext cx="6675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94A3B8"/>
                </a:solidFill>
                <a:latin typeface="PingFang SC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691B6"/>
                </a:solidFill>
                <a:latin typeface="PingFang SC"/>
              </a:rPr>
              <a:t>综合案例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0F172A"/>
                </a:solidFill>
                <a:latin typeface="PingFang SC"/>
              </a:rPr>
              <a:t>两条分支，一样的响应结构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07007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PingFang SC"/>
              </a:rPr>
              <a:t>这就是把收口 &lt;process&gt; 放在 &lt;filter&gt; 外面的价值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1371600" cy="41148"/>
          </a:xfrm>
          <a:prstGeom prst="rect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783080"/>
            <a:ext cx="5394960" cy="2788919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 w="9525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47672"/>
            <a:ext cx="4937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7DD3FC"/>
                </a:solidFill>
                <a:latin typeface="PingFang SC"/>
              </a:rPr>
              <a:t>amount=20000 · channel=APP  →  filter 放行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221991"/>
            <a:ext cx="4937760" cy="24231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{ "code": "OK",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"orderLevel": "VIP",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"decision": "APPROVED",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"totalScore": 270,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"checks": [ {RISK 90}, {CREDIT 85}, {INVENTORY 95} ],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"fulfilment": [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   { "sku":"BK-01", "warehouse":"WH-BOOK-SH" },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   { "sku":"FD-09", "warehouse":"WH-COLD-HZ" },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   { "sku":"XX-77", "warehouse":"WH-GENERAL-BJ" } ],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"message": "risk checks passed ..." 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27648" y="1783080"/>
            <a:ext cx="5303520" cy="2788919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 w="9525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2" y="1947672"/>
            <a:ext cx="4846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7DD3FC"/>
                </a:solidFill>
                <a:latin typeface="PingFang SC"/>
              </a:rPr>
              <a:t>amount=90000 · channel=WEB  →  filter 拦截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2221991"/>
            <a:ext cx="4846320" cy="24231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{ "code": "REJECTED",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"orderLevel": "VIP",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"decision": "REJECTED",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"totalScore": 165,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"checks": [ {RISK 30}, {CREDIT 40}, {INVENTORY 95} ],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"fulfilment": [],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"message": "risk checks failed ..." }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846320"/>
            <a:ext cx="10954512" cy="694944"/>
          </a:xfrm>
          <a:prstGeom prst="roundRect">
            <a:avLst>
              <a:gd name="adj" fmla="val 6000"/>
            </a:avLst>
          </a:prstGeom>
          <a:solidFill>
            <a:srgbClr val="D1FAE5"/>
          </a:solidFill>
          <a:ln w="6350">
            <a:solidFill>
              <a:srgbClr val="D1FA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4846320"/>
            <a:ext cx="50292" cy="69494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7" y="4965192"/>
            <a:ext cx="685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59669"/>
                </a:solidFill>
                <a:latin typeface="PingFang SC"/>
              </a:rPr>
              <a:t>设计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7048" y="4965192"/>
            <a:ext cx="990295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PingFang SC"/>
              </a:rPr>
              <a:t>字段完全对齐、只有取值不同 —— 前端不需要写两套解析逻辑。如果把收口逻辑写进 &lt;filter&gt; 里面，被拦下的请求就会返回一个半成品 Body，这是最常见的设计事故。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419088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94A3B8"/>
                </a:solidFill>
                <a:latin typeface="PingFang SC"/>
              </a:rPr>
              <a:t>./test-apis.sh 的最后两个用例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19088"/>
            <a:ext cx="6675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94A3B8"/>
                </a:solidFill>
                <a:latin typeface="PingFang SC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691B6"/>
                </a:solidFill>
                <a:latin typeface="PingFang SC"/>
              </a:rPr>
              <a:t>工程实践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0F172A"/>
                </a:solidFill>
                <a:latin typeface="PingFang SC"/>
              </a:rPr>
              <a:t>错误处理：本项目还没加，要加就这么写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07007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PingFang SC"/>
              </a:rPr>
              <a:t>当前 OrderValidateProcessor 抛异常会直接冒泡成 500，下面是四种收敛方式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1371600" cy="41148"/>
          </a:xfrm>
          <a:prstGeom prst="rect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989320" cy="3826763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 w="9525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883664"/>
            <a:ext cx="55321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7DD3FC"/>
                </a:solidFill>
                <a:latin typeface="PingFang SC"/>
              </a:rPr>
              <a:t>两种写法：全局 onException 与局部 doTry/doCatch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157984"/>
            <a:ext cx="5532120" cy="3461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&lt;camelContext ...&gt;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&lt;!-- 全局：所有路由共用 --&gt;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&lt;onException&gt;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  &lt;exception&gt;java.lang.IllegalArgumentException&lt;/exception&gt;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  &lt;handled&gt;&lt;constant&gt;true&lt;/constant&gt;&lt;/handled&gt;   ← 标记已处理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  &lt;setHeader name="CamelHttpResponseCode"&gt;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    &lt;constant&gt;400&lt;/constant&gt;&lt;/setHeader&gt;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  &lt;setBody&gt;&lt;simple&gt;{"msg":"${exception.message}"}&lt;/simple&gt;&lt;/setBody&gt;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&lt;/onException&gt;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&lt;!-- 局部：只包住某几步 --&gt;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&lt;doTry&gt;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  &lt;to uri="http://flaky-service"/&gt;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  &lt;doCatch&gt;&lt;exception&gt;java.io.IOException&lt;/exception&gt;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    &lt;setBody&gt;&lt;constant&gt;{"code":"DEGRADED"}&lt;/constant&gt;&lt;/setBody&gt;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  &lt;/doCatch&gt;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&lt;/doTry&gt;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&lt;/camelContext&gt;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766560" y="1719072"/>
          <a:ext cx="4864607" cy="243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3135"/>
                <a:gridCol w="2821472"/>
              </a:tblGrid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ingFang SC"/>
                        </a:rPr>
                        <a:t>机制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ingFang SC"/>
                        </a:rPr>
                        <a:t>什么时候用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Menlo"/>
                        </a:rPr>
                        <a:t>&lt;onException&gt;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按异常类型统一兜底；可设 handled、重试、重定向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Menlo"/>
                        </a:rPr>
                        <a:t>&lt;doTry&gt;/&lt;doCatch&gt;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只想保护路由中的某几步，像 Java 的 try/catch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PingFang SC"/>
                        </a:rPr>
                        <a:t>errorHandler + redeliveryPolicy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需要自动重试：maximumRedeliveries、backOff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Menlo"/>
                        </a:rPr>
                        <a:t>&lt;stop/&gt;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不是异常，是主动终止当前 Exchange 的处理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66928" y="5623560"/>
            <a:ext cx="11064240" cy="694944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 w="6350">
            <a:solidFill>
              <a:srgbClr val="FEF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5623560"/>
            <a:ext cx="50292" cy="6949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5742432"/>
            <a:ext cx="685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B45309"/>
                </a:solidFill>
                <a:latin typeface="PingFang SC"/>
              </a:rPr>
              <a:t>易错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7" y="5742432"/>
            <a:ext cx="100126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PingFang SC"/>
              </a:rPr>
              <a:t>&lt;filter&gt; 不匹配不是错误，不会触发 onException；handled=true 后 Exchange 算成功返回，REST 层照样出 200，改状态码要显式设 CamelHttpResponseCode。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19088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94A3B8"/>
                </a:solidFill>
                <a:latin typeface="PingFang SC"/>
              </a:rPr>
              <a:t>当前项目故意不写，留作练习（见 HANDOFF.md）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419088"/>
            <a:ext cx="6675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94A3B8"/>
                </a:solidFill>
                <a:latin typeface="PingFang SC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691B6"/>
                </a:solidFill>
                <a:latin typeface="PingFang SC"/>
              </a:rPr>
              <a:t>可观测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0F172A"/>
                </a:solidFill>
                <a:latin typeface="PingFang SC"/>
              </a:rPr>
              <a:t>怎么在控制台追踪每一步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07007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PingFang SC"/>
              </a:rPr>
              <a:t>日志是学 Camel 最好的老师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1371600" cy="41148"/>
          </a:xfrm>
          <a:prstGeom prst="rect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5943600" cy="1714499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 w="9525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20240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7DD3FC"/>
                </a:solidFill>
                <a:latin typeface="PingFang SC"/>
              </a:rPr>
              <a:t>camel-context.xml（装配入口；运行时开关只能写在这里）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194560"/>
            <a:ext cx="5486400" cy="13487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&lt;camelContext id="camelSession0to1"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            useMDCLogging="true"     ← routeId 进 MDC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            useBreadcrumb="true"     ← 跨路由串链路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            trace="false"            ← 打开可逐 EIP 打点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            streamCache="true"&gt;      ← 流式 Body 可重复读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127248"/>
            <a:ext cx="5943600" cy="1284732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 w="9525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291840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7DD3FC"/>
                </a:solidFill>
                <a:latin typeface="PingFang SC"/>
              </a:rPr>
              <a:t>application.yml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566160"/>
            <a:ext cx="5486400" cy="9189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logging.pattern.console: &gt;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%d{HH:mm:ss.SSS} %-5level [%15.15thread]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E2E8F0"/>
                </a:solidFill>
                <a:latin typeface="Menlo"/>
              </a:rPr>
              <a:t>  [route:%X{camel.routeId:-~}] %-40.40logger{39} : %msg%n</a:t>
            </a:r>
          </a:p>
        </p:txBody>
      </p:sp>
      <p:sp>
        <p:nvSpPr>
          <p:cNvPr id="13" name="Oval 12"/>
          <p:cNvSpPr/>
          <p:nvPr/>
        </p:nvSpPr>
        <p:spPr>
          <a:xfrm>
            <a:off x="6967728" y="1947672"/>
            <a:ext cx="91440" cy="91440"/>
          </a:xfrm>
          <a:prstGeom prst="ellipse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05472" y="1874519"/>
            <a:ext cx="44256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PingFang SC"/>
              </a:rPr>
              <a:t>&lt;log message="…"&gt;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05472" y="2130551"/>
            <a:ext cx="442569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PingFang SC"/>
              </a:rPr>
              <a:t>声明式日志，logger 名就是 routeId，最适合标记路由边界</a:t>
            </a:r>
          </a:p>
        </p:txBody>
      </p:sp>
      <p:sp>
        <p:nvSpPr>
          <p:cNvPr id="16" name="Oval 15"/>
          <p:cNvSpPr/>
          <p:nvPr/>
        </p:nvSpPr>
        <p:spPr>
          <a:xfrm>
            <a:off x="6967728" y="2798064"/>
            <a:ext cx="91440" cy="91440"/>
          </a:xfrm>
          <a:prstGeom prst="ellipse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05472" y="2724912"/>
            <a:ext cx="44256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PingFang SC"/>
              </a:rPr>
              <a:t>%X{camel.routeId}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05472" y="2980944"/>
            <a:ext cx="44256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PingFang SC"/>
              </a:rPr>
              <a:t>从 MDC 取出当前路由 id，一眼看出消息走到哪</a:t>
            </a:r>
          </a:p>
        </p:txBody>
      </p:sp>
      <p:sp>
        <p:nvSpPr>
          <p:cNvPr id="19" name="Oval 18"/>
          <p:cNvSpPr/>
          <p:nvPr/>
        </p:nvSpPr>
        <p:spPr>
          <a:xfrm>
            <a:off x="6967728" y="3451860"/>
            <a:ext cx="91440" cy="91440"/>
          </a:xfrm>
          <a:prstGeom prst="ellipse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05472" y="3378708"/>
            <a:ext cx="44256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PingFang SC"/>
              </a:rPr>
              <a:t>线程名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05472" y="3634739"/>
            <a:ext cx="442569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PingFang SC"/>
              </a:rPr>
              <a:t>Multicast / WireTap / task-N 直接暴露并发与异步行为</a:t>
            </a:r>
          </a:p>
        </p:txBody>
      </p:sp>
      <p:sp>
        <p:nvSpPr>
          <p:cNvPr id="22" name="Oval 21"/>
          <p:cNvSpPr/>
          <p:nvPr/>
        </p:nvSpPr>
        <p:spPr>
          <a:xfrm>
            <a:off x="6967728" y="4302252"/>
            <a:ext cx="91440" cy="91440"/>
          </a:xfrm>
          <a:prstGeom prst="ellipse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05472" y="4229100"/>
            <a:ext cx="44256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PingFang SC"/>
              </a:rPr>
              <a:t>trace="true"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05472" y="4485132"/>
            <a:ext cx="44256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PingFang SC"/>
              </a:rPr>
              <a:t>排查时临时打开，每个 EIP 节点都会打点（很吵）</a:t>
            </a:r>
          </a:p>
        </p:txBody>
      </p:sp>
      <p:sp>
        <p:nvSpPr>
          <p:cNvPr id="25" name="Oval 24"/>
          <p:cNvSpPr/>
          <p:nvPr/>
        </p:nvSpPr>
        <p:spPr>
          <a:xfrm>
            <a:off x="6967728" y="4956048"/>
            <a:ext cx="91440" cy="91440"/>
          </a:xfrm>
          <a:prstGeom prst="ellipse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05472" y="4882896"/>
            <a:ext cx="44256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PingFang SC"/>
              </a:rPr>
              <a:t>exchangeId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05472" y="5138928"/>
            <a:ext cx="44256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PingFang SC"/>
              </a:rPr>
              <a:t>同一次请求的唯一 ID，跨路由串联日志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394960"/>
            <a:ext cx="10954512" cy="694944"/>
          </a:xfrm>
          <a:prstGeom prst="roundRect">
            <a:avLst>
              <a:gd name="adj" fmla="val 6000"/>
            </a:avLst>
          </a:prstGeom>
          <a:solidFill>
            <a:srgbClr val="FFE4E6"/>
          </a:solidFill>
          <a:ln w="6350">
            <a:solidFill>
              <a:srgbClr val="FFE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5394960"/>
            <a:ext cx="50292" cy="694944"/>
          </a:xfrm>
          <a:prstGeom prst="rect">
            <a:avLst/>
          </a:prstGeom>
          <a:solidFill>
            <a:srgbClr val="BE1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7" y="5513832"/>
            <a:ext cx="685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BE123C"/>
                </a:solidFill>
                <a:latin typeface="PingFang SC"/>
              </a:rPr>
              <a:t>易错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7048" y="5513832"/>
            <a:ext cx="990295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PingFang SC"/>
              </a:rPr>
              <a:t>再次强调：因为 CamelContext 由 XML 定义，camel.springboot.* 下的开关一律无效，必须写成 &lt;camelContext&gt; 的属性。日志正文本身是英文。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19088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94A3B8"/>
                </a:solidFill>
                <a:latin typeface="PingFang SC"/>
              </a:rPr>
              <a:t>MDC 让并发日志也能读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19088"/>
            <a:ext cx="6675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94A3B8"/>
                </a:solidFill>
                <a:latin typeface="PingFang SC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691B6"/>
                </a:solidFill>
                <a:latin typeface="PingFang SC"/>
              </a:rPr>
              <a:t>速查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0F172A"/>
                </a:solidFill>
                <a:latin typeface="PingFang SC"/>
              </a:rPr>
              <a:t>Java DSL ↔ XML DSL 对照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07007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PingFang SC"/>
              </a:rPr>
              <a:t>网上的资料大多是 Java DSL，照着这张表翻译即可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1371600" cy="41148"/>
          </a:xfrm>
          <a:prstGeom prst="rect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19072"/>
          <a:ext cx="11064239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1563"/>
                <a:gridCol w="4536338"/>
                <a:gridCol w="4536338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ingFang SC"/>
                        </a:rPr>
                        <a:t>做什么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ingFang SC"/>
                        </a:rPr>
                        <a:t>Java DSL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ingFang SC"/>
                        </a:rPr>
                        <a:t>XML DSL（本项目）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PingFang SC"/>
                        </a:rPr>
                        <a:t>定义路由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from("direct:a").routeId("r1")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Menlo"/>
                        </a:rPr>
                        <a:t>&lt;route id="r1"&gt;&lt;from uri="direct:a"/&gt;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PingFang SC"/>
                        </a:rPr>
                        <a:t>发消息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.to("direct:b")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Menlo"/>
                        </a:rPr>
                        <a:t>&lt;to uri="direct:b"/&gt;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PingFang SC"/>
                        </a:rPr>
                        <a:t>自定义 Java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.process(myProcessor)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Menlo"/>
                        </a:rPr>
                        <a:t>&lt;process ref="myProcessor"/&gt;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PingFang SC"/>
                        </a:rPr>
                        <a:t>日志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.log("x=${body}")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Menlo"/>
                        </a:rPr>
                        <a:t>&lt;log message="x=${body}"/&gt;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PingFang SC"/>
                        </a:rPr>
                        <a:t>分支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.choice().when(simple(...)).otherwise()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Menlo"/>
                        </a:rPr>
                        <a:t>&lt;choice&gt;&lt;when&gt;&lt;simple&gt;…&lt;/simple&gt;&lt;/when&gt;&lt;otherwise&gt;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PingFang SC"/>
                        </a:rPr>
                        <a:t>过滤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.filter(simple(...))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Menlo"/>
                        </a:rPr>
                        <a:t>&lt;filter&gt;&lt;simple&gt;…&lt;/simple&gt;…&lt;/filter&gt;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PingFang SC"/>
                        </a:rPr>
                        <a:t>并行分发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.multicast().aggregationStrategy(s).parallelProcessing()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Menlo"/>
                        </a:rPr>
                        <a:t>&lt;multicast aggregationStrategy="s" parallelProcessing="true"&gt;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PingFang SC"/>
                        </a:rPr>
                        <a:t>拆分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.split(jsonpath("$.items")).aggregationStrategy(s)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Menlo"/>
                        </a:rPr>
                        <a:t>&lt;split aggregationStrategy="s"&gt;&lt;jsonpath&gt;$.items&lt;/jsonpath&gt;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PingFang SC"/>
                        </a:rPr>
                        <a:t>旁路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.wireTap("direct:audit")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Menlo"/>
                        </a:rPr>
                        <a:t>&lt;wireTap uri="direct:audit"/&gt;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PingFang SC"/>
                        </a:rPr>
                        <a:t>动态目标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.toD("direct:item-${header.x}")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Menlo"/>
                        </a:rPr>
                        <a:t>&lt;toD uri="direct:item-${header.x}"/&gt;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66928" y="5687568"/>
            <a:ext cx="11064240" cy="694944"/>
          </a:xfrm>
          <a:prstGeom prst="roundRect">
            <a:avLst>
              <a:gd name="adj" fmla="val 6000"/>
            </a:avLst>
          </a:prstGeom>
          <a:solidFill>
            <a:srgbClr val="E0F2FE"/>
          </a:solidFill>
          <a:ln w="6350">
            <a:solidFill>
              <a:srgbClr val="E0F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5687568"/>
            <a:ext cx="50292" cy="694944"/>
          </a:xfrm>
          <a:prstGeom prst="rect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5806440"/>
            <a:ext cx="685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691B6"/>
                </a:solidFill>
                <a:latin typeface="PingFang SC"/>
              </a:rPr>
              <a:t>注意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7" y="5806440"/>
            <a:ext cx="100126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PingFang SC"/>
              </a:rPr>
              <a:t>最大的差异在 aggregationStrategy：Java DSL 是方法、传对象；Camel 4 的 XML DSL 是属性、传 Bean 名。老资料里的嵌套 &lt;aggregationStrategy&gt; 元素在 4.x 已经不存在了。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94A3B8"/>
                </a:solidFill>
                <a:latin typeface="PingFang SC"/>
              </a:rPr>
              <a:t>两种 DSL 生成的是同一套 RouteDefinition 模型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19088"/>
            <a:ext cx="6675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94A3B8"/>
                </a:solidFill>
                <a:latin typeface="PingFang SC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691B6"/>
                </a:solidFill>
                <a:latin typeface="PingFang SC"/>
              </a:rPr>
              <a:t>工程实践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0F172A"/>
                </a:solidFill>
                <a:latin typeface="PingFang SC"/>
              </a:rPr>
              <a:t>怎么验证改动没跑偏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07007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PingFang SC"/>
              </a:rPr>
              <a:t>三层：手工点、脚本回归、单元测试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1371600" cy="41148"/>
          </a:xfrm>
          <a:prstGeom prst="rect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5852160" cy="2788919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 w="9525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20240"/>
            <a:ext cx="5394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7DD3FC"/>
                </a:solidFill>
                <a:latin typeface="PingFang SC"/>
              </a:rPr>
              <a:t>三种验证方式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194560"/>
            <a:ext cx="5394960" cy="24231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# 1) 手工逐个点（IntelliJ HTTP Client）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.idea/rest/API-requests.http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# 2) 一键回归全部 9 个用例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./test-apis.sh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./test-apis.sh other-host:8080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# 3) 单元测试（camel-test-spring-junit5 已在 pom 里）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mvn test -Dtest=SomeTest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E2E8F0"/>
                </a:solidFill>
                <a:latin typeface="Menlo"/>
              </a:rPr>
              <a:t>mvn test -Dtest=SomeTest#someMethod</a:t>
            </a:r>
          </a:p>
        </p:txBody>
      </p:sp>
      <p:sp>
        <p:nvSpPr>
          <p:cNvPr id="10" name="Oval 9"/>
          <p:cNvSpPr/>
          <p:nvPr/>
        </p:nvSpPr>
        <p:spPr>
          <a:xfrm>
            <a:off x="6784848" y="1947672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22592" y="1874519"/>
            <a:ext cx="46085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PingFang SC"/>
              </a:rPr>
              <a:t>改了路由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22592" y="2130551"/>
            <a:ext cx="460857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PingFang SC"/>
              </a:rPr>
              <a:t>先跑 ./test-apis.sh，9 个用例覆盖 6 个 API 的正反两路</a:t>
            </a:r>
          </a:p>
        </p:txBody>
      </p:sp>
      <p:sp>
        <p:nvSpPr>
          <p:cNvPr id="13" name="Oval 12"/>
          <p:cNvSpPr/>
          <p:nvPr/>
        </p:nvSpPr>
        <p:spPr>
          <a:xfrm>
            <a:off x="6784848" y="2816352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22592" y="2743200"/>
            <a:ext cx="46085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PingFang SC"/>
              </a:rPr>
              <a:t>改了打分阈值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22592" y="2999232"/>
            <a:ext cx="460857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PingFang SC"/>
              </a:rPr>
              <a:t>必须同时检查 API-6 的两个用例仍分别命中 APPROVED / REJECTED</a:t>
            </a:r>
          </a:p>
        </p:txBody>
      </p:sp>
      <p:sp>
        <p:nvSpPr>
          <p:cNvPr id="16" name="Oval 15"/>
          <p:cNvSpPr/>
          <p:nvPr/>
        </p:nvSpPr>
        <p:spPr>
          <a:xfrm>
            <a:off x="6784848" y="3685032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22592" y="3611880"/>
            <a:ext cx="46085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PingFang SC"/>
              </a:rPr>
              <a:t>想写单测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2592" y="3867912"/>
            <a:ext cx="4608576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PingFang SC"/>
              </a:rPr>
              <a:t>用 CamelSpringBootTest + mock: 端点断言，或 ProducerTemplate 直接打 direct:</a:t>
            </a:r>
          </a:p>
        </p:txBody>
      </p:sp>
      <p:sp>
        <p:nvSpPr>
          <p:cNvPr id="19" name="Oval 18"/>
          <p:cNvSpPr/>
          <p:nvPr/>
        </p:nvSpPr>
        <p:spPr>
          <a:xfrm>
            <a:off x="6784848" y="4750307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22592" y="4677155"/>
            <a:ext cx="46085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PingFang SC"/>
              </a:rPr>
              <a:t>想看某一步的中间结果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22592" y="4933188"/>
            <a:ext cx="460857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PingFang SC"/>
              </a:rPr>
              <a:t>临时在那一步后加一个 &lt;log message="${body}"/&gt;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532120"/>
            <a:ext cx="10954512" cy="694944"/>
          </a:xfrm>
          <a:prstGeom prst="roundRect">
            <a:avLst>
              <a:gd name="adj" fmla="val 6000"/>
            </a:avLst>
          </a:prstGeom>
          <a:solidFill>
            <a:srgbClr val="E0F2FE"/>
          </a:solidFill>
          <a:ln w="6350">
            <a:solidFill>
              <a:srgbClr val="E0F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5532120"/>
            <a:ext cx="50292" cy="694944"/>
          </a:xfrm>
          <a:prstGeom prst="rect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7" y="5650992"/>
            <a:ext cx="685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691B6"/>
                </a:solidFill>
                <a:latin typeface="PingFang SC"/>
              </a:rPr>
              <a:t>注意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27048" y="5650992"/>
            <a:ext cx="990295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PingFang SC"/>
              </a:rPr>
              <a:t>本项目的分数是设计过的：amount ≤ 50000 得 270 分放行，amount &gt; 60000 得 165 分拦截。改 ScoreProcessor 或 RiskDecisionProcessor 的阈值时，这两条线要一起挪。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419088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94A3B8"/>
                </a:solidFill>
                <a:latin typeface="PingFang SC"/>
              </a:rPr>
              <a:t>阈值约定同时写在 CLAUDE.md 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19088"/>
            <a:ext cx="6675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94A3B8"/>
                </a:solidFill>
                <a:latin typeface="PingFang SC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691B6"/>
                </a:solidFill>
                <a:latin typeface="PingFang SC"/>
              </a:rPr>
              <a:t>附录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0F172A"/>
                </a:solidFill>
                <a:latin typeface="PingFang SC"/>
              </a:rPr>
              <a:t>标签速查表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07007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PingFang SC"/>
              </a:rPr>
              <a:t>本项目用到的全部 XML 标签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1371600" cy="41148"/>
          </a:xfrm>
          <a:prstGeom prst="rect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55648"/>
          <a:ext cx="5486400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91840"/>
              </a:tblGrid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ingFang SC"/>
                        </a:rPr>
                        <a:t>标签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ingFang SC"/>
                        </a:rPr>
                        <a:t>一句话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Menlo"/>
                        </a:rPr>
                        <a:t>&lt;camelContext&gt;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运行时容器，运行期开关写在它的属性上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Menlo"/>
                        </a:rPr>
                        <a:t>&lt;routeContext&gt; / &lt;restContext&gt;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路由片段容器，可放在被 import 的独立文件里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Menlo"/>
                        </a:rPr>
                        <a:t>&lt;routeContextRef&gt; / &lt;restContextRef&gt;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把片段装配进上下文，必须写在 restConfiguration 之前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Menlo"/>
                        </a:rPr>
                        <a:t>&lt;restConfiguration&gt;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REST 全局配置：component / bindingMode / CORS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Menlo"/>
                        </a:rPr>
                        <a:t>&lt;rest&gt; &lt;post&gt;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声明 REST 端点；&lt;post&gt; 必须含且仅含一个 &lt;to&gt;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Menlo"/>
                        </a:rPr>
                        <a:t>&lt;route&gt; &lt;from&gt;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一条流水线；&lt;from&gt; 是唯一入口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Menlo"/>
                        </a:rPr>
                        <a:t>&lt;to&gt; &lt;toD&gt;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发消息；&lt;toD&gt; 的 URI 运行期才求值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Menlo"/>
                        </a:rPr>
                        <a:t>&lt;process&gt;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插入自定义 Java（Processor Bean）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Menlo"/>
                        </a:rPr>
                        <a:t>&lt;log&gt;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声明式日志，支持 Simple 表达式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327648" y="1755648"/>
          <a:ext cx="5303519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7478"/>
                <a:gridCol w="3076041"/>
              </a:tblGrid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ingFang SC"/>
                        </a:rPr>
                        <a:t>标签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ingFang SC"/>
                        </a:rPr>
                        <a:t>一句话</a:t>
                      </a:r>
                    </a:p>
                  </a:txBody>
                  <a:tcPr marL="82296" marR="82296" marT="18288" marB="18288" anchor="ctr">
                    <a:solidFill>
                      <a:srgbClr val="33415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Menlo"/>
                        </a:rPr>
                        <a:t>&lt;choice&gt; &lt;when&gt; &lt;otherwise&gt;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多路选择，命中即停；otherwise 兜底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Menlo"/>
                        </a:rPr>
                        <a:t>&lt;filter&gt;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单一守卫；不匹配只跳过内部，不终止路由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Menlo"/>
                        </a:rPr>
                        <a:t>&lt;simple&gt; &lt;jsonpath&gt;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两种表达式语言，可作取值或谓词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Menlo"/>
                        </a:rPr>
                        <a:t>&lt;multicast&gt;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复制消息给多个目标，配 aggregationStrategy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Menlo"/>
                        </a:rPr>
                        <a:t>&lt;split&gt;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拆成子消息，配 aggregationStrategy 收集结果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Menlo"/>
                        </a:rPr>
                        <a:t>&lt;wireTap&gt;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异步旁路副本，发了就不管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Menlo"/>
                        </a:rPr>
                        <a:t>&lt;setHeader&gt; &lt;setProperty&gt; &lt;setBody&gt;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写 Header / Property / Body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Menlo"/>
                        </a:rPr>
                        <a:t>&lt;onException&gt; &lt;doTry&gt; &lt;doCatch&gt;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异常兜底（本项目留作练习）</a:t>
                      </a:r>
                    </a:p>
                  </a:txBody>
                  <a:tcPr marL="82296" marR="82296" marT="18288" marB="18288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F172A"/>
                          </a:solidFill>
                          <a:latin typeface="Menlo"/>
                        </a:rPr>
                        <a:t>&lt;stop/&gt;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334155"/>
                          </a:solidFill>
                          <a:latin typeface="PingFang SC"/>
                        </a:rPr>
                        <a:t>真正终止当前 Exchange 的处理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419088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94A3B8"/>
                </a:solidFill>
                <a:latin typeface="PingFang SC"/>
              </a:rPr>
              <a:t>完整注释见 src/main/resources/camel/ 下的各路由片段文件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19088"/>
            <a:ext cx="6675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94A3B8"/>
                </a:solidFill>
                <a:latin typeface="PingFang SC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691B6"/>
                </a:solidFill>
                <a:latin typeface="PingFang SC"/>
              </a:rPr>
              <a:t>下一步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76656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0F172A"/>
                </a:solidFill>
                <a:latin typeface="PingFang SC"/>
              </a:rPr>
              <a:t>现在动手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07007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PingFang SC"/>
              </a:rPr>
              <a:t>先跑起来，再改坏它，是学 Camel 最快的路径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1371600" cy="41148"/>
          </a:xfrm>
          <a:prstGeom prst="rect">
            <a:avLst/>
          </a:prstGeom>
          <a:solidFill>
            <a:srgbClr val="06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783080"/>
            <a:ext cx="5852160" cy="2359151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 w="9525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47672"/>
            <a:ext cx="5394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7DD3FC"/>
                </a:solidFill>
                <a:latin typeface="PingFang SC"/>
              </a:rPr>
              <a:t>三条命令跑起全部 6 个 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221991"/>
            <a:ext cx="5394960" cy="19933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2E8F0"/>
                </a:solidFill>
                <a:latin typeface="Menlo"/>
              </a:rPr>
              <a:t>mvn clean package -DskipTests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2E8F0"/>
                </a:solidFill>
                <a:latin typeface="Menlo"/>
              </a:rPr>
              <a:t>java -jar target/camel-session-0to1-1.0.0-SNAPSHOT.jar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2E8F0"/>
                </a:solidFill>
                <a:latin typeface="Menlo"/>
              </a:rPr>
              <a:t># 另开一个终端，一键回归 9 个用例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2E8F0"/>
                </a:solidFill>
                <a:latin typeface="Menlo"/>
              </a:rPr>
              <a:t>./test-apis.sh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2E8F0"/>
                </a:solidFill>
                <a:latin typeface="Menlo"/>
              </a:rPr>
              <a:t># 或在 IDEA 里逐个点着跑（带断言）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2E8F0"/>
                </a:solidFill>
                <a:latin typeface="Menlo"/>
              </a:rPr>
              <a:t>.idea/rest/API-requests.http</a:t>
            </a:r>
          </a:p>
        </p:txBody>
      </p:sp>
      <p:sp>
        <p:nvSpPr>
          <p:cNvPr id="10" name="Oval 9"/>
          <p:cNvSpPr/>
          <p:nvPr/>
        </p:nvSpPr>
        <p:spPr>
          <a:xfrm>
            <a:off x="6784848" y="1883664"/>
            <a:ext cx="91440" cy="91440"/>
          </a:xfrm>
          <a:prstGeom prst="ellipse">
            <a:avLst/>
          </a:prstGeom>
          <a:solidFill>
            <a:srgbClr val="BE1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22592" y="1810512"/>
            <a:ext cx="46085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PingFang SC"/>
              </a:rPr>
              <a:t>把 multicast 的 aggregationStrategy 删掉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22592" y="2066543"/>
            <a:ext cx="46085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PingFang SC"/>
              </a:rPr>
              <a:t>观察响应变回进入前的原始报文</a:t>
            </a:r>
          </a:p>
        </p:txBody>
      </p:sp>
      <p:sp>
        <p:nvSpPr>
          <p:cNvPr id="13" name="Oval 12"/>
          <p:cNvSpPr/>
          <p:nvPr/>
        </p:nvSpPr>
        <p:spPr>
          <a:xfrm>
            <a:off x="6784848" y="2455163"/>
            <a:ext cx="91440" cy="91440"/>
          </a:xfrm>
          <a:prstGeom prst="ellipse">
            <a:avLst/>
          </a:prstGeom>
          <a:solidFill>
            <a:srgbClr val="BE1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22592" y="2382011"/>
            <a:ext cx="46085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PingFang SC"/>
              </a:rPr>
              <a:t>把 &lt;filter&gt; 换成 &lt;choice&gt;&lt;when&gt;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22592" y="2638043"/>
            <a:ext cx="46085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PingFang SC"/>
              </a:rPr>
              <a:t>体会"守卫"和"多路选择"的差别</a:t>
            </a:r>
          </a:p>
        </p:txBody>
      </p:sp>
      <p:sp>
        <p:nvSpPr>
          <p:cNvPr id="16" name="Oval 15"/>
          <p:cNvSpPr/>
          <p:nvPr/>
        </p:nvSpPr>
        <p:spPr>
          <a:xfrm>
            <a:off x="6784848" y="3026663"/>
            <a:ext cx="91440" cy="91440"/>
          </a:xfrm>
          <a:prstGeom prst="ellipse">
            <a:avLst/>
          </a:prstGeom>
          <a:solidFill>
            <a:srgbClr val="BE1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22592" y="2953511"/>
            <a:ext cx="46085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PingFang SC"/>
              </a:rPr>
              <a:t>给 items 加一个未知 type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2592" y="3209543"/>
            <a:ext cx="460857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PingFang SC"/>
              </a:rPr>
              <a:t>看 toD 如何收敛到 direct:item-OTHER</a:t>
            </a:r>
          </a:p>
        </p:txBody>
      </p:sp>
      <p:sp>
        <p:nvSpPr>
          <p:cNvPr id="19" name="Oval 18"/>
          <p:cNvSpPr/>
          <p:nvPr/>
        </p:nvSpPr>
        <p:spPr>
          <a:xfrm>
            <a:off x="6784848" y="3794759"/>
            <a:ext cx="91440" cy="91440"/>
          </a:xfrm>
          <a:prstGeom prst="ellipse">
            <a:avLst/>
          </a:prstGeom>
          <a:solidFill>
            <a:srgbClr val="BE1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22592" y="3721607"/>
            <a:ext cx="46085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PingFang SC"/>
              </a:rPr>
              <a:t>把 parallelProcessing 改成 false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22592" y="3977639"/>
            <a:ext cx="46085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PingFang SC"/>
              </a:rPr>
              <a:t>对比控制台线程名与总耗时</a:t>
            </a:r>
          </a:p>
        </p:txBody>
      </p:sp>
      <p:sp>
        <p:nvSpPr>
          <p:cNvPr id="22" name="Oval 21"/>
          <p:cNvSpPr/>
          <p:nvPr/>
        </p:nvSpPr>
        <p:spPr>
          <a:xfrm>
            <a:off x="6784848" y="4366259"/>
            <a:ext cx="91440" cy="91440"/>
          </a:xfrm>
          <a:prstGeom prst="ellipse">
            <a:avLst/>
          </a:prstGeom>
          <a:solidFill>
            <a:srgbClr val="BE1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22592" y="4293107"/>
            <a:ext cx="46085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PingFang SC"/>
              </a:rPr>
              <a:t>打开 trace="true"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22592" y="4549140"/>
            <a:ext cx="46085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PingFang SC"/>
              </a:rPr>
              <a:t>看 Camel 逐个 EIP 打点的完整轨迹</a:t>
            </a:r>
          </a:p>
        </p:txBody>
      </p:sp>
      <p:sp>
        <p:nvSpPr>
          <p:cNvPr id="25" name="Oval 24"/>
          <p:cNvSpPr/>
          <p:nvPr/>
        </p:nvSpPr>
        <p:spPr>
          <a:xfrm>
            <a:off x="6784848" y="4937759"/>
            <a:ext cx="91440" cy="91440"/>
          </a:xfrm>
          <a:prstGeom prst="ellipse">
            <a:avLst/>
          </a:prstGeom>
          <a:solidFill>
            <a:srgbClr val="BE1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22592" y="4864607"/>
            <a:ext cx="46085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PingFang SC"/>
              </a:rPr>
              <a:t>加一个 &lt;onException&gt;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22592" y="5120640"/>
            <a:ext cx="46085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PingFang SC"/>
              </a:rPr>
              <a:t>让校验失败返回 400 而不是 500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623560"/>
            <a:ext cx="10954512" cy="484632"/>
          </a:xfrm>
          <a:prstGeom prst="roundRect">
            <a:avLst>
              <a:gd name="adj" fmla="val 6000"/>
            </a:avLst>
          </a:prstGeom>
          <a:solidFill>
            <a:srgbClr val="D1FAE5"/>
          </a:solidFill>
          <a:ln w="6350">
            <a:solidFill>
              <a:srgbClr val="D1FA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5623560"/>
            <a:ext cx="50292" cy="48463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7" y="5742432"/>
            <a:ext cx="685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59669"/>
                </a:solidFill>
                <a:latin typeface="PingFang SC"/>
              </a:rPr>
              <a:t>提示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7048" y="5742432"/>
            <a:ext cx="9902952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PingFang SC"/>
              </a:rPr>
              <a:t>改坏之后记得看控制台 —— 本项目每个 Processor、每条路由、每个聚合策略都打了日志，现象和原因基本能一一对上。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19088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94A3B8"/>
                </a:solidFill>
                <a:latin typeface="PingFang SC"/>
              </a:rPr>
              <a:t>祝顺利 · camel-session-0to1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19088"/>
            <a:ext cx="6675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94A3B8"/>
                </a:solidFill>
                <a:latin typeface="PingFang SC"/>
              </a:rPr>
              <a:t>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