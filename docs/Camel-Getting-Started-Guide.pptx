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92024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>
                <a:solidFill>
                  <a:srgbClr val="0F172A"/>
                </a:solidFill>
                <a:latin typeface="Helvetica Neue"/>
              </a:rPr>
              <a:t>Apache Camel From Zero To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92608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0">
                <a:solidFill>
                  <a:srgbClr val="64748B"/>
                </a:solidFill>
                <a:latin typeface="Helvetica Neue"/>
              </a:rPr>
              <a:t>From a single route to a full enterprise integration flow, using the Spring XML DSL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886200"/>
            <a:ext cx="10241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334155"/>
                </a:solidFill>
                <a:latin typeface="Menlo"/>
              </a:rPr>
              <a:t>Spring Boot  3.5.14      Spring Cloud  2025.0.2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334155"/>
                </a:solidFill>
                <a:latin typeface="Menlo"/>
              </a:rPr>
              <a:t>Camel        4.18.2      JDK           21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334155"/>
                </a:solidFill>
                <a:latin typeface="Menlo"/>
              </a:rPr>
              <a:t>Entry point  @ImportResource("classpath:camel-context.xml")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334155"/>
                </a:solidFill>
                <a:latin typeface="Menlo"/>
              </a:rPr>
              <a:t>Sample repo  camel-session-0to1 · 16 routes · 6 runnable APIs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HOW TO USE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What Is In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The first half builds up API by API; the second half is the part you will keep coming back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484882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2484882" cy="457200"/>
          </a:xfrm>
          <a:prstGeom prst="rect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892807"/>
            <a:ext cx="21922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691B6"/>
                </a:solidFill>
                <a:latin typeface="Helvetica Neue"/>
              </a:rPr>
              <a:t>1 · Foundations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957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395728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Learning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71119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711196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Six core nouns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026663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026663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The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342131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342131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Where the code lives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3657599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657599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How the XML is wired 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54146" y="1783080"/>
            <a:ext cx="2484882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54146" y="1783080"/>
            <a:ext cx="2484882" cy="45720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450" y="1892807"/>
            <a:ext cx="21922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6D28D9"/>
                </a:solidFill>
                <a:latin typeface="Helvetica Neue"/>
              </a:rPr>
              <a:t>2 · API by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8738" y="23957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2513" y="2395728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REST DSL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8738" y="271119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2513" y="2711196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API-1 basic chain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8738" y="3026663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2513" y="3026663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API-2 branching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8738" y="3342131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2513" y="3342131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filter vs choice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8738" y="3657599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2513" y="3657599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API-3 ProducerTemplate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8738" y="3973067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2513" y="3973067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API-4 parallel + merge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8738" y="4288535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2513" y="4288535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API-5 split / tap / toD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8212" y="1783080"/>
            <a:ext cx="2484882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8212" y="1783080"/>
            <a:ext cx="2484882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4516" y="1892807"/>
            <a:ext cx="21922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B45309"/>
                </a:solidFill>
                <a:latin typeface="Helvetica Neue"/>
              </a:rPr>
              <a:t>3 · Reference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2803" y="23957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6579" y="2395728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Simple expressions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2803" y="271119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6579" y="2711196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Four one-to-many EIPs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2803" y="3026663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26579" y="3026663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Endpoint URIs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2803" y="3342131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6579" y="3342131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Built-in headers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2803" y="3657599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26579" y="3657599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Java DSL mapping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32803" y="3973067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26579" y="3973067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All tags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82277" y="1783080"/>
            <a:ext cx="2484882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82277" y="1783080"/>
            <a:ext cx="2484882" cy="457200"/>
          </a:xfrm>
          <a:prstGeom prst="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28581" y="1892807"/>
            <a:ext cx="21922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59669"/>
                </a:solidFill>
                <a:latin typeface="Helvetica Neue"/>
              </a:rPr>
              <a:t>4 · Practice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46869" y="23957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40645" y="2395728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API-6 orchestration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46869" y="271119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40645" y="2711196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Same shape both ways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46869" y="3026663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40645" y="3026663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Error handling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46869" y="3342131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40645" y="3342131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Logging and tracing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6869" y="3657599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0645" y="3657599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Testing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46869" y="3973067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40645" y="3973067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Hands-on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080" y="5394960"/>
            <a:ext cx="10927080" cy="694944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0080" y="5394960"/>
            <a:ext cx="50292" cy="694944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59" y="551383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Helvetica Neue"/>
              </a:rPr>
              <a:t>READING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9" y="5513832"/>
            <a:ext cx="9464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The pages marked Reference are the ones worth bookmarking: Simple expressions, endpoint URIs, built-in headers and the tag table. Read straight through the first time, then jump to those four.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camel-session-0to1 · 26 slides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LEARNING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Six APIs, Two Or Three New Tags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Each step runs on its own, and each one only adds a little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37360"/>
          <a:ext cx="11064238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69"/>
                <a:gridCol w="2212848"/>
                <a:gridCol w="3208629"/>
                <a:gridCol w="2434132"/>
                <a:gridCol w="276606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API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New tags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Route file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Question it answers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POST /orders/basic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&lt;route&gt; &lt;from&gt; &lt;to&gt; &lt;process&gt;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route-api1-basic.xml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How does a route run at all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POST /orders/dispatch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&lt;choice&gt; &lt;when&gt; &lt;simple&gt; &lt;jsonpath&gt; &lt;filter&gt;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route-api2-dispatch.xml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How do I branch on content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POST /orders/quote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ProducerTemplate + &lt;to uri="bean:"&gt;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route-api3-quote.xml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How do I call out to HTTP or another route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POST /orders/check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&lt;multicast&gt; + aggregationStrategy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route-api4-multicast.xml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How do I fan out and merge the replies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POST /orders/split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&lt;split&gt; &lt;wireTap&gt; &lt;toD&gt;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route-api5-split.xml + route-shared.xml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How do I split, tap and route dynamically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POST /orders/fulfil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everything above, combined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route-api6-complex.xml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How do they work together for real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138928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6350">
            <a:solidFill>
              <a:srgbClr val="D1F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5138928"/>
            <a:ext cx="50292" cy="69494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25780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Helvetica Neue"/>
              </a:rPr>
              <a:t>RUN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5257800"/>
            <a:ext cx="96012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Every API runs offline: mvn clean package, then java -jar target/*.jar, then ./test-apis.sh. Each step logs what it does, so run it and watch the console as you read.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16 routes in total; the sub-routes of API-4 and API-5 are reused by API-6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Six Nouns Worth Memorising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Everything in Camel is a combination of these six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828800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Helvetica Neue"/>
              </a:rPr>
              <a:t>CamelContext  the runtime container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011679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Owns every route, component, endpoint and thread pool; one per application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610611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37459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Helvetica Neue"/>
              </a:rPr>
              <a:t>Route  one message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93491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Starts with exactly one &lt;from&gt;, followed by a sequence of steps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392423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319271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Helvetica Neue"/>
              </a:rPr>
              <a:t>Exchange  the context of one message exchange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575303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Holds the In message, headers, properties and exceptions along the whole route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1828800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1755648"/>
            <a:ext cx="5020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Helvetica Neue"/>
              </a:rPr>
              <a:t>Endpoint / URI  where messages come from and 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011679"/>
            <a:ext cx="5020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direct:xxx, http://…, file:… - one string is one address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2610611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2824" y="2537459"/>
            <a:ext cx="5020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Helvetica Neue"/>
              </a:rPr>
              <a:t>Component  the protocol adapter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2824" y="2793491"/>
            <a:ext cx="5020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Implements the scheme of an endpoint URI (direct, http, platform-http)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3392423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2824" y="3319271"/>
            <a:ext cx="5020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Helvetica Neue"/>
              </a:rPr>
              <a:t>EIP  enterprise integration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2824" y="3575303"/>
            <a:ext cx="5020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choice / filter / split / multicast / wireTap - the grammar of a route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206240"/>
            <a:ext cx="10972800" cy="13716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370831"/>
            <a:ext cx="10515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The same route in the Java DSL (left) and the XML DSL (right); this project uses XML throughout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4645151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from("direct:order")            &lt;from uri="direct:order"/&gt;        &lt;- inbound endpoint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.process(validator)           &lt;process ref="validator"/&gt;        &lt;- custom Java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.choice().when(...)           &lt;choice&gt;&lt;when&gt;…&lt;/when&gt;&lt;/choice&gt;   &lt;- EIP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.to("http://fx-service");     &lt;to uri="http://fx-service"/&gt;     &lt;- outbound endpoint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Get the concepts first and the tags explain themselves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MESSAGE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Exchange: What Actually Flows Through A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Understand this and you know where your data is, and when it disappears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2487168" cy="1481328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778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38528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Helvetica Neue"/>
              </a:rPr>
              <a:t>In Message (Body)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304288"/>
            <a:ext cx="21396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Helvetica Neue"/>
              </a:rPr>
              <a:t>The actual business data. Rewritten repeatedly by &lt;process&gt;, &lt;setBody&gt; and &lt;split&gt;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783080"/>
            <a:ext cx="2487168" cy="1481328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778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38528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Helvetica Neue"/>
              </a:rPr>
              <a:t>Headers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304288"/>
            <a:ext cx="21396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Helvetica Neue"/>
              </a:rPr>
              <a:t>Metadata travelling with the message. &lt;setHeader&gt; / ${header.x}; may be overwritten across components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783080"/>
            <a:ext cx="2487168" cy="1481328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938528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Helvetica Neue"/>
              </a:rPr>
              <a:t>Properties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304288"/>
            <a:ext cx="21396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Helvetica Neue"/>
              </a:rPr>
              <a:t>Exchange-wide data that rides along. &lt;setProperty&gt; / ${exchangeProperty.x}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83080"/>
            <a:ext cx="2487168" cy="1481328"/>
          </a:xfrm>
          <a:prstGeom prst="roundRect">
            <a:avLst>
              <a:gd name="adj" fmla="val 10000"/>
            </a:avLst>
          </a:prstGeom>
          <a:solidFill>
            <a:srgbClr val="FFE4E6"/>
          </a:solidFill>
          <a:ln w="17780">
            <a:solidFill>
              <a:srgbClr val="BE1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938528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Helvetica Neue"/>
              </a:rPr>
              <a:t>Exception / Pattern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304288"/>
            <a:ext cx="21396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Helvetica Neue"/>
              </a:rPr>
              <a:t>The exception plus InOnly / InOut, which decides whether a reply is awaited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20440"/>
            <a:ext cx="10881360" cy="694944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520440"/>
            <a:ext cx="50292" cy="694944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63931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Helvetica Neue"/>
              </a:rPr>
              <a:t>IN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38528" y="3639312"/>
            <a:ext cx="9418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API-6 depends on exactly this difference: after the multicast and split the body is unrecognisable, so step 2 stores the original payload with &lt;setProperty name="originalOrder"&gt; and fulfilment restores it with &lt;setBody&gt;${exchangeProperty.originalOrder}&lt;/setBody&gt;.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480560"/>
            <a:ext cx="10881360" cy="13716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645152"/>
            <a:ext cx="10424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Backing up and restoring through a Property (camel/route-api6-complex.xml)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919472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&lt;setProperty name="originalOrder"&gt;&lt;simple&gt;${body}&lt;/simple&gt;&lt;/setProperty&gt;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…  during &lt;multicast/&gt; and &lt;process/&gt; the body becomes the aggregated score  …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&lt;setBody&gt;&lt;simple&gt;${exchangeProperty.originalOrder}&lt;/simple&gt;&lt;/setBody&gt;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&lt;split&gt;&lt;jsonpath&gt;$.items&lt;/jsonpath&gt; … &lt;/split&gt;   &lt;- items exist again only after the restore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body changes, a property does not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PROJECT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Where The Code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camel-context.xml only wires things together; routes are split per API into eight fragments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074920" cy="3264407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01952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src/main/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617720" cy="2898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resources/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camel-context.xml          &lt;- wiring only (import + ref)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camel/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rest-api.xml             &lt;- &lt;restContext&gt;  six REST endpoints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route-api1-basic.xml     &lt;- &lt;routeContext&gt; API-1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route-api2-dispatch.xml  &lt;- &lt;routeContext&gt; API-2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route-api3-quote.xml     &lt;- &lt;routeContext&gt; API-3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route-api4-multicast.xml &lt;- &lt;routeContext&gt; API-4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route-api5-split.xml     &lt;- &lt;routeContext&gt; API-5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route-shared.xml         &lt;- item-* / audit-log, shared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route-api6-complex.xml   &lt;- &lt;routeContext&gt; API-6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application.yml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java/com/example/camel/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processor/   strategy/   bean/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1737360"/>
          <a:ext cx="564184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5250"/>
                <a:gridCol w="3046597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Looking for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Go to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The routes of one API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camel/route-apiN-*.xml; the file header explains its tags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What &lt;process ref="x"/&gt; runs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processor/ - the @Component("x") of the same name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An aggregationStrategy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strategy/ - the bean of the same name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ProducerTemplate usage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bean/RemoteCallService.java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The mocked external system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bean/MockRemoteApiController.java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Runtime switches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attributes of &lt;camelContext&gt; in camel-context.xml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API testing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.idea/rest/API-requests.http or ./test-apis.sh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5303520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6350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303520"/>
            <a:ext cx="50292" cy="694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42239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Helvetica Neue"/>
              </a:rPr>
              <a:t>EXTEND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5422392"/>
            <a:ext cx="96012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Adding an API takes three steps: drop a &lt;routeContext&gt; file into camel/, add &lt;import&gt; plus &lt;routeContextRef&gt; in camel-context.xml, add a &lt;post&gt; in rest-api.xml. Mind the schema: the ref elements must come before &lt;restConfiguration&gt;.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split relies on Camel's &lt;routeContext&gt; / &lt;restContext&gt; fragment containers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WIRING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How @ImportResource Plugs The XML Into Spring Boot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Follow this chain and all four pitfalls below make sense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2487168" cy="9601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651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0195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19" y="1892807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Menlo"/>
              </a:rPr>
              <a:t>@ImportResource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49424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Helvetica Neue"/>
              </a:rPr>
              <a:t>Spring parses camel-context.xml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45536" y="2263140"/>
            <a:ext cx="310896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56432" y="1783080"/>
            <a:ext cx="2487168" cy="9601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651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90195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Helvetica Neue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86784" y="1892807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Menlo"/>
              </a:rPr>
              <a:t>&lt;camelContext&gt;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2249424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Helvetica Neue"/>
              </a:rPr>
              <a:t>Becomes a CamelContext bean that pulls fragments in by ref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0" y="2263140"/>
            <a:ext cx="310896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54496" y="1783080"/>
            <a:ext cx="2487168" cy="9601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651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90195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Helvetica Neu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4848" y="1892807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Menlo"/>
              </a:rPr>
              <a:t>Auto-config backs 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249424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Helvetica Neue"/>
              </a:rPr>
              <a:t>CamelAutoConfiguration is @ConditionalOnMissingBean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1664" y="2263140"/>
            <a:ext cx="310896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052560" y="1783080"/>
            <a:ext cx="2487168" cy="9601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651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90195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Helvetica Neue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1892807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Menlo"/>
              </a:rPr>
              <a:t>The XML context wins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249424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Helvetica Neue"/>
              </a:rPr>
              <a:t>Routes start and stop with Spring Boot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58368" y="3063240"/>
          <a:ext cx="10881359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3699662"/>
                <a:gridCol w="5005425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Pitfall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Symptom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Fix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Helvetica Neue"/>
                        </a:rPr>
                        <a:t>Two ProducerTemplates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expected single matching bean but found 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&lt;camelContext&gt; already registers one named template; do not declare your own @Bean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Helvetica Neue"/>
                        </a:rPr>
                        <a:t>Circular dependency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camelContext and *ComponentAutoConfiguration wait on each other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Add @Lazy where a business bean injects the template, and keep spring.main.allow-circular-references=true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Helvetica Neue"/>
                        </a:rPr>
                        <a:t>yml switches do nothing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camel.springboot.use-mdc-logging has no effect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Auto-config backed off; runtime switches belong on &lt;camelContext useMDCLogging="true"&gt;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Helvetica Neue"/>
                        </a:rPr>
                        <a:t>XML fails to parse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The string "--" is not permitted within comments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An XML comment cannot contain two hyphens in a row; draw table rules with = instead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All four actually happened while building this project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TAGS 1/6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REST DSL: &lt;restConfiguration&gt; / &lt;rest&gt; / &lt;post&gt; / &lt;to&gt;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The REST layer only adapts the protocol; the work belongs to direct routes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5760720" cy="3017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5303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camel/rest-api.xml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53035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&lt;restConfiguration component="platform-http"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               bindingMode="json"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               enableCORS="true"&gt;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&lt;dataFormatProperty key="prettyPrint" value="true"/&gt;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&lt;/restConfiguration&gt;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&lt;rest path="/api/v1/orders"&gt;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&lt;post path="/basic"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    type="java.util.Map"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    outType="java.util.Map"&gt;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&lt;to uri="direct:api1-basic"/&gt;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&lt;/post&gt;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&lt;/rest&gt;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0" y="1755648"/>
          <a:ext cx="4937759" cy="3236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3859"/>
                <a:gridCol w="286390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Tag / attribute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&lt;restConfiguration&gt;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Global REST settings, one per CamelContext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component=platform-http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Reuses Spring Boot's embedded Tomcat; no extra port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bindingMode=json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Deserialises into type, serialises the reply back to JSON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&lt;rest path&gt;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Common prefix for a group of endpoints; no logic of its own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&lt;post path type outType&gt;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One POST verb; must contain exactly one &lt;to&gt;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&lt;to uri="direct:…"&gt;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Hands the request to a route; direct is a synchronous endpoint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5349240"/>
            <a:ext cx="10881360" cy="694944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349240"/>
            <a:ext cx="50292" cy="694944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46811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Helvetica Neue"/>
              </a:rPr>
              <a:t>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8528" y="5468112"/>
            <a:ext cx="9418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Why always hand off to direct:? Because a route is the unit that can be reused, composed and unit-tested. Swap the REST layer for an MQ trigger and the business routes do not change at 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All endpoints live under http://localhost:8080/api/v1/orders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TAGS 2/6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API-1  &lt;route&gt; &lt;from&gt; &lt;to&gt; &lt;process&gt;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POST /api/v1/orders/basic - the smallest route that does something useful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6309360" cy="28346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camel/route-api1-basic.xml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58521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&lt;route id="api1-basic-order"&gt;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&lt;from uri="direct:api1-basic"/&gt;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&lt;log message="[API-1] &gt;&gt;&gt; entering route, payload=${body}"/&gt;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&lt;process ref="orderValidateProcessor"/&gt;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&lt;to uri="direct:api1-enrich"/&gt;          &lt;- calls another route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&lt;log message="[API-1] &lt;&lt;&lt; route finished"/&gt;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&lt;/route&gt;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&lt;route id="api1-enrich-order"&gt;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&lt;from uri="direct:api1-enrich"/&gt;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&lt;process ref="orderEnrichProcessor"/&gt;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&lt;/route&gt;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059168" y="1755648"/>
          <a:ext cx="4553711" cy="3035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2890"/>
                <a:gridCol w="3460821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Tag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&lt;route&gt;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One pipeline; the id shows up in logs, JMX and the MDC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&lt;from&gt;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The only entry point (consumer); exactly one per route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&lt;to&gt;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Sends to the next endpoint, InOut by default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&lt;process&gt;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Custom Java with full read/write access to the Exchange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&lt;log&gt;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Declarative logging; the message may contain Simple expressions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5120640"/>
            <a:ext cx="10881360" cy="694944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6350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120640"/>
            <a:ext cx="50292" cy="694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23951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Helvetica Neue"/>
              </a:rPr>
              <a:t>USAGE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8528" y="5239512"/>
            <a:ext cx="9418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 Processor suits validation, instrumentation and non-trivial rewriting; for a simple lookup or comparison reach for &lt;simple&gt; instead. A route is a reusable unit - compose them with &lt;to&gt;.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route id becomes the logger name in the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TAGS 3/6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API-2  &lt;choice&gt; &lt;when&gt; &lt;otherwise&gt; &lt;simple&gt; &lt;jsonpath&gt;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POST /api/v1/orders/dispatch - route each order down a different lane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6675120" cy="3017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Content Based Router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62179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&lt;choice&gt;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&lt;when&gt;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&lt;simple&gt;${body[amount]} &amp;gt; 10000&lt;/simple&gt;      &lt;- Simple expression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&lt;setHeader name="lane"&gt;&lt;constant&gt;VIP&lt;/constant&gt;&lt;/setHeader&gt;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&lt;/when&gt;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&lt;when&gt;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&lt;jsonpath&gt;$[?(@.channel == 'APP')]&lt;/jsonpath&gt;  &lt;- JSONPath predicate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&lt;setHeader name="lane"&gt;&lt;constant&gt;APP_FAST&lt;/constant&gt;&lt;/setHeader&gt;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&lt;/when&gt;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&lt;otherwise&gt;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&lt;setHeader name="lane"&gt;&lt;constant&gt;STANDARD&lt;/constant&gt;&lt;/setHeader&gt;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&lt;/otherwise&gt;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&lt;/choice&gt;</a:t>
            </a:r>
          </a:p>
        </p:txBody>
      </p:sp>
      <p:sp>
        <p:nvSpPr>
          <p:cNvPr id="10" name="Oval 9"/>
          <p:cNvSpPr/>
          <p:nvPr/>
        </p:nvSpPr>
        <p:spPr>
          <a:xfrm>
            <a:off x="7360920" y="1947672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98664" y="1874519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&lt;choice&gt;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98664" y="2130551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Content based router; top to bottom, first match wins</a:t>
            </a:r>
          </a:p>
        </p:txBody>
      </p:sp>
      <p:sp>
        <p:nvSpPr>
          <p:cNvPr id="13" name="Oval 12"/>
          <p:cNvSpPr/>
          <p:nvPr/>
        </p:nvSpPr>
        <p:spPr>
          <a:xfrm>
            <a:off x="7360920" y="2601468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98664" y="2528315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&lt;when&gt;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98664" y="2784347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One branch; its first child element must be a predicate</a:t>
            </a:r>
          </a:p>
        </p:txBody>
      </p:sp>
      <p:sp>
        <p:nvSpPr>
          <p:cNvPr id="16" name="Oval 15"/>
          <p:cNvSpPr/>
          <p:nvPr/>
        </p:nvSpPr>
        <p:spPr>
          <a:xfrm>
            <a:off x="7360920" y="3255263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8664" y="3182111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&lt;otherwise&gt;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8664" y="3438143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The fallback when nothing matched; optional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3909059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98664" y="3835907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&lt;simple&gt;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4091939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Built in: ${body[k]} ${header.x} ${exchangeProperty.x}</a:t>
            </a:r>
          </a:p>
        </p:txBody>
      </p:sp>
      <p:sp>
        <p:nvSpPr>
          <p:cNvPr id="22" name="Oval 21"/>
          <p:cNvSpPr/>
          <p:nvPr/>
        </p:nvSpPr>
        <p:spPr>
          <a:xfrm>
            <a:off x="7360920" y="4562855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98664" y="4489703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&lt;jsonpath&gt;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98664" y="4745736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Tests the JSON directly; non-empty means true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394960"/>
            <a:ext cx="10881360" cy="694944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394960"/>
            <a:ext cx="50292" cy="694944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551383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Helvetica Neue"/>
              </a:rPr>
              <a:t>GOTCHA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8528" y="5513832"/>
            <a:ext cx="9418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Escape comparison operators in XML: &gt; becomes &amp;gt; and &lt; becomes &amp;lt;. Only one &lt;when&gt; ever runs; if you want all of them to run, use &lt;multicast&gt;.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three sample payloads hit when#1, when#2 and otherwise respectively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KEY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How &lt;filter&gt; Really Differs From &lt;choice&gt;/&lt;when&gt;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The pair beginners mix up most; API-2 and API-6 both depend on the difference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37360"/>
          <a:ext cx="110642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993"/>
                <a:gridCol w="4646980"/>
                <a:gridCol w="4868265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Dimension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enlo"/>
                        </a:rPr>
                        <a:t>&lt;filter&gt;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enlo"/>
                        </a:rPr>
                        <a:t>&lt;choice&gt; + &lt;when&gt;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Helvetica Neue"/>
                        </a:rPr>
                        <a:t>Branches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Exactly one (true / false)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Any number of &lt;when&gt; plus one &lt;otherwise&gt;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Helvetica Neue"/>
                        </a:rPr>
                        <a:t>When unmatched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Skips every step inside the filter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Runs &lt;otherwise&gt;; simply skipped if absent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Helvetica Neue"/>
                        </a:rPr>
                        <a:t>Meaning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"Should this part run?" - a guard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"Which part runs?" - a multi-way choice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Helvetica Neue"/>
                        </a:rPr>
                        <a:t>Strategy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A single predicate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Top to bottom, first match wins, only one runs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Helvetica Neue"/>
                        </a:rPr>
                        <a:t>Usual mistake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Assuming it ends the route (it does not!)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Assuming several whens all run (they do not)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Helvetica Neue"/>
                        </a:rPr>
                        <a:t>Typical use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Risk guard, feature flag, dropping bad data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Helvetica Neue"/>
                        </a:rPr>
                        <a:t>Channel routing, order grading, versioning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138928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26694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59669"/>
                </a:solidFill>
                <a:latin typeface="Helvetica Neue"/>
              </a:rPr>
              <a:t>In common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595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Helvetica Neue"/>
              </a:rPr>
              <a:t>Neither one terminates the route - the nodes after them still run. Use &lt;stop/&gt; when you really mean stop. That is why a request filtered out in API-2 still gets a 200, and an order rejected in API-6 still returns a fully shaped JSON body.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same table is in the comments of camel/route-api2-dispatch.xml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Simple Expression 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Camel's built-in expression language covers about 90% of all lookups and tests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19072"/>
          <a:ext cx="5532119" cy="331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132"/>
                <a:gridCol w="3097987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Lookup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Meaning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${body}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The whole message body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${body[amount]}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 key, when the body is a Map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${body[items][0][sku]}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Nested lookup with indexes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${header.orderId}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 header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${exchangeProperty.originalOrder}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 property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${exchangeId}  ${routeId}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Id of this exchange / the current route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${date:now:yyyy-MM-dd}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Current time in a given format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${bean:myBean?method=calc}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Call a Spring bean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27648" y="1719072"/>
          <a:ext cx="5303519" cy="331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7478"/>
                <a:gridCol w="3076041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Predicate / operator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Notes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${body[amount]} &amp;gt; 10000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Numeric compare; write &gt; as &amp;gt; in XML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${header.decision} == 'APPROVED'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String equality, single quotes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${header.lane} in 'VIP,APP_FAST'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Membership test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${body[channel]} regex '^A.*'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Regular expression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${header.x} != null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Null check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${body[items].size()} &amp;gt; 0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Collection size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${body[amount]} range '100..5000'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Range test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\${...}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Escape: emit a literal ${...}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440680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5440680"/>
            <a:ext cx="50292" cy="694944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55955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Helvetica Neue"/>
              </a:rPr>
              <a:t>CHOOSING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5559552"/>
            <a:ext cx="96012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Reach for &lt;jsonpath&gt; only when Simple gets clumsy (deep JSON), and for &lt;method&gt;/&lt;bean&gt; when the logic is genuinely complex. Writing a Processor just to read one field is the most common piece of over-engineering in this codebase.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Every &lt;when&gt; and &lt;filter&gt; in API-2 and API-6 uses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TAGS 4/6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API-3  ProducerTemplate: Sending From Outside A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POST /api/v1/orders/quote - calls a remote HTTP API and a local route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6858000" cy="26517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6400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bean/RemoteCallService.java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6400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// Use 1: call a remote HTTP API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String raw = producerTemplate.requestBodyAndHeaders(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"http://localhost:8080/mock/remote/fx-rate?bridgeEndpoint=true",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json,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Map.of(Exchange.HTTP_METHOD, "POST",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       Exchange.CONTENT_TYPE, "application/json"),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String.class);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// Use 2: call back into a local Camel route (direct: synchronous, same thread)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Map&lt;String,Object&gt; fee = producerTemplate.requestBody(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"direct:api3-calc-fee", request, Map.class);</a:t>
            </a:r>
          </a:p>
        </p:txBody>
      </p:sp>
      <p:sp>
        <p:nvSpPr>
          <p:cNvPr id="10" name="Oval 9"/>
          <p:cNvSpPr/>
          <p:nvPr/>
        </p:nvSpPr>
        <p:spPr>
          <a:xfrm>
            <a:off x="7699248" y="1947672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1874519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What it 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2130551"/>
            <a:ext cx="36941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Camel's RestTemplate; the target can be any component</a:t>
            </a:r>
          </a:p>
        </p:txBody>
      </p:sp>
      <p:sp>
        <p:nvSpPr>
          <p:cNvPr id="13" name="Oval 12"/>
          <p:cNvSpPr/>
          <p:nvPr/>
        </p:nvSpPr>
        <p:spPr>
          <a:xfrm>
            <a:off x="7699248" y="279806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2724912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sendBody(...)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2980944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InOnly: fire and continue, no reply</a:t>
            </a:r>
          </a:p>
        </p:txBody>
      </p:sp>
      <p:sp>
        <p:nvSpPr>
          <p:cNvPr id="16" name="Oval 15"/>
          <p:cNvSpPr/>
          <p:nvPr/>
        </p:nvSpPr>
        <p:spPr>
          <a:xfrm>
            <a:off x="7699248" y="3451860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6992" y="3378708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requestBody(...)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6992" y="3634739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InOut: wait for and return the reply</a:t>
            </a:r>
          </a:p>
        </p:txBody>
      </p:sp>
      <p:sp>
        <p:nvSpPr>
          <p:cNvPr id="19" name="Oval 18"/>
          <p:cNvSpPr/>
          <p:nvPr/>
        </p:nvSpPr>
        <p:spPr>
          <a:xfrm>
            <a:off x="7699248" y="410565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032504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Where the bean comes from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4288536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&lt;camelContext&gt; registers one named template</a:t>
            </a:r>
          </a:p>
        </p:txBody>
      </p:sp>
      <p:sp>
        <p:nvSpPr>
          <p:cNvPr id="22" name="Oval 21"/>
          <p:cNvSpPr/>
          <p:nvPr/>
        </p:nvSpPr>
        <p:spPr>
          <a:xfrm>
            <a:off x="7699248" y="4759452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36992" y="4686300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Must be a singleton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4942332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It holds an endpoint cache and thread pools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81360" cy="694944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230368"/>
            <a:ext cx="50292" cy="694944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534924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Helvetica Neue"/>
              </a:rPr>
              <a:t>COMPARE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8528" y="5349240"/>
            <a:ext cx="94183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Inside a route you send with &lt;to&gt;; in Java you send with a ProducerTemplate - both go through the same component and endpoint machinery. To call a Spring bean from a route, write &lt;to uri="bean:xxx?method=yyy"/&gt;.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Inject it with @Lazy, or the context hits a circular dependency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TAGS 5/6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API-4  &lt;multicast&gt; + aggregationStrategy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POST /api/v1/orders/check - three risk checks in parallel, then merged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6035040" cy="17373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5577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camel/route-api4-multicast.xml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&lt;multicast aggregationStrategy="scoreAggregationStrategy"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       parallelProcessing="true"&gt;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&lt;to uri="direct:api4-risk"/&gt;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&lt;to uri="direct:api4-credit"/&gt;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&lt;to uri="direct:api4-inventory"/&gt;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&lt;/multicast&gt;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858768"/>
            <a:ext cx="6035040" cy="21031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023359"/>
            <a:ext cx="5577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strategy/ScoreAggregationStrategy.java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297679"/>
            <a:ext cx="5577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public Exchange aggregate(Exchange old, Exchange neu) {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if (old == null) {          // first call: neu becomes the seed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neu.getIn().setBody(newAccumulator(neu));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return neu;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merge(old, neu);            // later: merge into old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return old;                 // and you must return old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}</a:t>
            </a:r>
          </a:p>
        </p:txBody>
      </p:sp>
      <p:sp>
        <p:nvSpPr>
          <p:cNvPr id="13" name="Oval 12"/>
          <p:cNvSpPr/>
          <p:nvPr/>
        </p:nvSpPr>
        <p:spPr>
          <a:xfrm>
            <a:off x="6967728" y="1947672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1874519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&lt;multicast&gt;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2130551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Copies one message to several targets (the scatter half)</a:t>
            </a:r>
          </a:p>
        </p:txBody>
      </p:sp>
      <p:sp>
        <p:nvSpPr>
          <p:cNvPr id="16" name="Oval 15"/>
          <p:cNvSpPr/>
          <p:nvPr/>
        </p:nvSpPr>
        <p:spPr>
          <a:xfrm>
            <a:off x="6967728" y="2601468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2528315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parallelProcessing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2" y="2784347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Branches run concurrently; the caller still waits for all</a:t>
            </a:r>
          </a:p>
        </p:txBody>
      </p:sp>
      <p:sp>
        <p:nvSpPr>
          <p:cNvPr id="19" name="Oval 18"/>
          <p:cNvSpPr/>
          <p:nvPr/>
        </p:nvSpPr>
        <p:spPr>
          <a:xfrm>
            <a:off x="6967728" y="3255263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82111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aggregationStrategy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3438143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An attribute in Camel 4 XML, not a nested element</a:t>
            </a:r>
          </a:p>
        </p:txBody>
      </p:sp>
      <p:sp>
        <p:nvSpPr>
          <p:cNvPr id="22" name="Oval 21"/>
          <p:cNvSpPr/>
          <p:nvPr/>
        </p:nvSpPr>
        <p:spPr>
          <a:xfrm>
            <a:off x="6967728" y="3909059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5472" y="3835907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The 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4091939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oldExchange is null the first time; then return old</a:t>
            </a:r>
          </a:p>
        </p:txBody>
      </p:sp>
      <p:sp>
        <p:nvSpPr>
          <p:cNvPr id="25" name="Oval 24"/>
          <p:cNvSpPr/>
          <p:nvPr/>
        </p:nvSpPr>
        <p:spPr>
          <a:xfrm>
            <a:off x="6967728" y="4562855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5472" y="4489703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Thread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4745736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Camel calls it serially by default, so no locking needed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67728" y="5358384"/>
            <a:ext cx="4663440" cy="905256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58384"/>
            <a:ext cx="50292" cy="905256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8" y="5477256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Helvetica Neue"/>
              </a:rPr>
              <a:t>GOTCHA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5477256"/>
            <a:ext cx="3200399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With no aggregationStrategy a multicast discards every branch reply and keeps the message as it was before - the single most common newcomer trap.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console shows three Multicast threads scoring in interleaved order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TAGS 6/6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API-5  &lt;split&gt; &lt;wireTap&gt; &lt;toD&gt;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POST /api/v1/orders/split - split a batch, tap a copy, pick the target at runtime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6675120" cy="19202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83664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camel/route-api5-split.xml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57984"/>
            <a:ext cx="6217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&lt;wireTap uri="direct:audit-log"/&gt;          &lt;- async copy, main flow does not wait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&lt;split aggregationStrategy="itemCollectAggregationStrategy"&gt;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&lt;jsonpath&gt;$.items&lt;/jsonpath&gt;              &lt;- split expression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&lt;process ref="itemNormalizeProcessor"/&gt;   &lt;- normalises itemChannel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&lt;toD uri="direct:item-${header.itemChannel}"/&gt;  &lt;- resolved at runtime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&lt;/split&gt;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4041648"/>
          <a:ext cx="10881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576"/>
                <a:gridCol w="3808475"/>
                <a:gridCol w="5658307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Tag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Semantics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Detail that matters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&lt;split&gt;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One message becomes N children, each run through the body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Children carry CamelSplitIndex / SplitSize / SplitComplete; with no strategy the output is the original message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&lt;wireTap&gt;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Sends a copy of the Exchange elsewhere and forgets it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Async, separate thread; the main flow never waits, never sees the result and never sees its errors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&lt;toD&gt;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The URI is evaluated at runtime to pick the endpoint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A &lt;to&gt; is fixed at startup, a &lt;toD&gt; can differ per message; the target must exist or NoSuchEndpointException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TOY category is normalised to OTHER and lands in WH-GENERAL-BJ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Four One-To-Many EIPs, Side By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All four appear together in API-6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6423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993"/>
                <a:gridCol w="2212848"/>
                <a:gridCol w="2434132"/>
                <a:gridCol w="1659636"/>
                <a:gridCol w="3208629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EIP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Message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Sync?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How results come back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&lt;multicast&gt;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Unchanged (copies)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Several different targets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Yes, waits for all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Merged by aggregationStrategy, discarded without one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&lt;split&gt;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Broken into N children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The same body of steps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Yes, waits for all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Collected by aggregationStrategy, otherwise the original message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&lt;wireTap&gt;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A copy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One tap endpoint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No, returns at once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Not available, errors not visible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&lt;toD&gt;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Unchanged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One target resolved at runtime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Helvetica Neue"/>
                        </a:rPr>
                        <a:t>Normal reply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617720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6350">
            <a:solidFill>
              <a:srgbClr val="EDE9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617720"/>
            <a:ext cx="50292" cy="69494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73659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D28D9"/>
                </a:solidFill>
                <a:latin typeface="Helvetica Neue"/>
              </a:rPr>
              <a:t>MNEMONIC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4736592"/>
            <a:ext cx="96012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One line to remember them: multicast sends one message to different people, split cuts one message up for the same person, wireTap drops a copy in the post and walks away, toD decides the addressee only when it gets there.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API-6 uses all four at 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Endpoint URI 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The scheme picks the component; everything after ? is that component's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19072"/>
          <a:ext cx="11064239" cy="3602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3761841"/>
                <a:gridCol w="508955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URI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What it is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Where this project uses it / common options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direct:name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Synchronous, same-thread in-memory endpoint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Every REST endpoint hands off to direct:; the first choice for a sub-flow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seda:name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Asynchronous in-memory queue with its own pool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When the downstream should be async and bufferable; ?concurrentConsumers=N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bean:beanName?method=x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Calls a bean in the Spring container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API-3 uses &lt;to uri="bean:remoteCallService?method=handle"/&gt;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http://host/path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HTTP client (camel-http)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?bridgeEndpoint=true ignores the inbound path; pair with Exchange.HTTP_METHOD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platform-http:/path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Mounts an endpoint on Spring Boot's Tomcat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Used indirectly by &lt;restConfiguration component="platform-http"&gt;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log:name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Logs the message (separate from the &lt;log&gt; tag)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?showHeaders=true&amp;showBody=true is handy while debugging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timer:name?period=5000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 timer, typically used as a &lt;from&gt;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?delay= initial delay, ?repeatCount=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file:dir?noop=true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Reads and writes a directory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?noop keeps the source, ?move= relocates after use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623560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6350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5623560"/>
            <a:ext cx="50292" cy="694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74243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Helvetica Neue"/>
              </a:rPr>
              <a:t>OPTIONAL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5742432"/>
            <a:ext cx="96012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This project only uses direct, bean, http and platform-http. The rest are listed to make one point: switching protocol means switching a URI prefix, not rewriting the route.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Per-component options live on the camel.apache.org component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Headers Camel Sets For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A lot of behaviour needs no plumbing - Camel already put it in a header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19072"/>
          <a:ext cx="5532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Split / Multicast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Meaning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CamelSplitIndex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Index of the current child, starting at 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CamelSplitSize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Total number of children (non-streaming splits only)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CamelSplitComplete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Whether this is the last child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CamelMulticastIndex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Index of the multicast branch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CamelMulticastComplete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Whether this is the last branch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CamelFilterMatched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Whether the filter matched (boolean)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CamelToEndpoint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The endpoint URI the last &lt;to&gt; actually used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27648" y="1719072"/>
          <a:ext cx="5303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9619"/>
                <a:gridCol w="286390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HTTP / general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Meaning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CamelHttpMethod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Request method; constant Exchange.HTTP_METHOD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CamelHttpResponseCode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Status code; set it to change the REST reply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CamelHttpUri / CamelHttpPath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Target URI and path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CamelHttpQuery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Query string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Content-Type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Content type; constant Exchange.CONTENT_TYPE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breadcrumbId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Cross-route correlation id (with useBreadcrumb=true)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CamelExceptionCaught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The exception object inside onException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394960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5394960"/>
            <a:ext cx="50292" cy="694944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51383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Helvetica Neue"/>
              </a:rPr>
              <a:t>STYLE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5513832"/>
            <a:ext cx="96012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In Java never type the string literal: use the constants on org.apache.camel.Exchange such as Exchange.SPLIT_INDEX and Exchange.HTTP_METHOD. ItemNormalizeProcessor and RemoteCallService both do it that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In XML read them as ${header.CamelSplitIndex}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API-6 Order Fulfilment: The Whole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POST /api/v1/orders/fulfil  ·  route id: api6-complex-fulfilment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773936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778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865376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1856231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REST ingress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176272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&lt;rest&gt; &lt;post&gt; -&gt; &lt;to&gt; direct: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773936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778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865376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208" y="1856231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Validate + backup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176272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&lt;process&gt; · &lt;setProperty&gt;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1773936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778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865376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12" y="1856231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Order grading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176272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&lt;choice&gt; &lt;when&gt; &lt;simple&gt;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17152" y="1773936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45168" y="1865376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Helvetica Neu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9216" y="1856231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Fan-out to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2176272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&lt;multicast&gt; parallel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63824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255264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Helvetica Neue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3246120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Three parallel scores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3566160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risk / credit / inventory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38144" y="3163824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3255264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Helvetica Neue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3246120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Aggregate scores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84448" y="3566160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aggregationStrategy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7648" y="3163824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778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3255264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Helvetica Neue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9712" y="3246120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Risk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3566160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&lt;process&gt; score -&gt; decision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17152" y="3163824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 w="17780">
            <a:solidFill>
              <a:srgbClr val="BE1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45168" y="3255264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BE123C"/>
                </a:solidFill>
                <a:latin typeface="Helvetica Neue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9216" y="3246120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Fulfilment guard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3456" y="3566160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&lt;filter&gt; APPROVED only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553712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4645152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Helvetica Neue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" y="4636008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Split + dynamic route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" y="4956048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&lt;split&gt; + &lt;toD&gt; item-*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38144" y="4553712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778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66160" y="4645152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Helvetica Neue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50208" y="4636008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Final assembly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84448" y="4956048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&lt;process&gt; build reply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27648" y="4553712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645152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Helvetica Neue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9712" y="4636008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JSON response 200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73952" y="4956048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bindingMode=json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217152" y="4553712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2E8F0"/>
          </a:solidFill>
          <a:ln w="1778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45168" y="4645152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4155"/>
                </a:solidFill>
                <a:latin typeface="Helvetica Neue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29216" y="4636008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Audit sink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6" y="4956048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&lt;wireTap&gt; async, non-blocking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80944" y="2194560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870448" y="2194560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759952" y="2194560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980944" y="3584448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870448" y="3584448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759952" y="3584448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80944" y="4974336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870448" y="4974336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33304" y="2615184"/>
            <a:ext cx="0" cy="201168"/>
          </a:xfrm>
          <a:prstGeom prst="line">
            <a:avLst/>
          </a:prstGeom>
          <a:ln w="1905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764792" y="2816352"/>
            <a:ext cx="8668512" cy="0"/>
          </a:xfrm>
          <a:prstGeom prst="line">
            <a:avLst/>
          </a:prstGeom>
          <a:ln w="1905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764792" y="2816352"/>
            <a:ext cx="0" cy="347472"/>
          </a:xfrm>
          <a:prstGeom prst="line">
            <a:avLst/>
          </a:prstGeom>
          <a:ln w="1905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122408" y="4005072"/>
            <a:ext cx="0" cy="182880"/>
          </a:xfrm>
          <a:prstGeom prst="line">
            <a:avLst/>
          </a:prstGeom>
          <a:ln w="1905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764792" y="4187952"/>
            <a:ext cx="8357616" cy="0"/>
          </a:xfrm>
          <a:prstGeom prst="line">
            <a:avLst/>
          </a:prstGeom>
          <a:ln w="1905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764792" y="4187952"/>
            <a:ext cx="0" cy="36576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329416" y="4005072"/>
            <a:ext cx="0" cy="548640"/>
          </a:xfrm>
          <a:prstGeom prst="line">
            <a:avLst/>
          </a:prstGeom>
          <a:ln w="19050">
            <a:prstDash val="dash"/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6928" y="291693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Helvetica Neue"/>
              </a:rPr>
              <a:t>4  one message copied to three branches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306824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59669"/>
                </a:solidFill>
                <a:latin typeface="Helvetica Neue"/>
              </a:rPr>
              <a:t>8  only decision=APPROVED reaches fulfilment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53728" y="4306824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34155"/>
                </a:solidFill>
                <a:latin typeface="Helvetica Neue"/>
              </a:rPr>
              <a:t>wireTap: fire-and-forget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48640" y="5687568"/>
            <a:ext cx="11091672" cy="694944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48640" y="5687568"/>
            <a:ext cx="50292" cy="694944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580644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Helvetica Neue"/>
              </a:rPr>
              <a:t>KEY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28800" y="5806440"/>
            <a:ext cx="962863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On REJECTED the &lt;filter&gt; at step 8 only skips step 9 - the route does not stop, so step 10 still assembles a reply and returns 200. That is the difference from &lt;stop/&gt;, and why both branches share one response shape.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interactive version is docs/api6-flow.en.html, which draws both branch points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Two Branches, One Response Shape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This is what you gain by keeping the assembly &lt;process&gt; outside the &lt;filter&gt;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394960" cy="2468879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47672"/>
            <a:ext cx="4937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amount=20000 · channel=APP  -&gt;  filter passes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21991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{ "code": "OK",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"orderLevel": "VIP",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"decision": "APPROVED",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"totalScore": 270,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"checks": [ {RISK 90}, {CREDIT 85}, {INVENTORY 95} ],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"fulfilment": [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{ "sku":"BK-01", "warehouse":"WH-BOOK-SH" 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{ "sku":"FD-09", "warehouse":"WH-COLD-HZ" 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{ "sku":"XX-77", "warehouse":"WH-GENERAL-BJ" } ],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"message": "risk checks passed ..."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783080"/>
            <a:ext cx="5303520" cy="2468879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947672"/>
            <a:ext cx="4846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amount=90000 · channel=WEB  -&gt;  filter 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221991"/>
            <a:ext cx="48463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{ "code": "REJECTED",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"orderLevel": "VIP",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"decision": "REJECTED",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"totalScore": 165,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"checks": [ {RISK 30}, {CREDIT 40}, {INVENTORY 95} ],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"fulfilment": [],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"message": "risk checks failed ..."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846320"/>
            <a:ext cx="10954512" cy="694944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6350">
            <a:solidFill>
              <a:srgbClr val="D1F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846320"/>
            <a:ext cx="50292" cy="69494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496519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Helvetica Neue"/>
              </a:rPr>
              <a:t>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8528" y="4965192"/>
            <a:ext cx="94914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Identical fields, only different values - the client needs one parser, not two. Move the assembly inside the &lt;filter&gt; and a blocked request gets a half-built body back, which is the classic design accident 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last two cases in ./test-apis.sh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Error Handling: Not Wired Up Yet, Here Is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Today an exception from OrderValidateProcessor bubbles up as a 500; four ways to contain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989320" cy="3826763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83664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Two styles: a global onException and a local doTry/doCatch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7984"/>
            <a:ext cx="5532120" cy="346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&lt;camelContext ...&gt;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&lt;!-- global: shared by every route --&gt;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&lt;onException&gt;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&lt;exception&gt;java.lang.IllegalArgumentException&lt;/exception&gt;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&lt;handled&gt;&lt;constant&gt;true&lt;/constant&gt;&lt;/handled&gt;   &lt;- handled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&lt;setHeader name="CamelHttpResponseCode"&gt;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&lt;constant&gt;400&lt;/constant&gt;&lt;/setHeader&gt;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&lt;setBody&gt;&lt;simple&gt;{"msg":"${exception.message}"}&lt;/simple&gt;&lt;/setBody&gt;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&lt;/onException&gt;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&lt;!-- local: wraps a few steps only --&gt;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&lt;doTry&gt;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&lt;to uri="http://flaky-service"/&gt;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&lt;doCatch&gt;&lt;exception&gt;java.io.IOException&lt;/exception&gt;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&lt;setBody&gt;&lt;constant&gt;{"code":"DEGRADED"}&lt;/constant&gt;&lt;/setBody&gt;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&lt;/doCatch&gt;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&lt;/doTry&gt;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&lt;/camelContext&gt;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766560" y="1719072"/>
          <a:ext cx="4864607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135"/>
                <a:gridCol w="2821472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Mechanism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When to use it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&lt;onException&gt;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 catch-all per exception type; supports handled, retry and redirect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&lt;doTry&gt;/&lt;doCatch&gt;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Protect a few steps only, like Java's try/catch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errorHandler + redeliveryPolicy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When you need retries: maximumRedeliveries, backOff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&lt;stop/&gt;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Not an error - it deliberately ends this Exchange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5623560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6350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623560"/>
            <a:ext cx="50292" cy="694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74243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Helvetica Neue"/>
              </a:rPr>
              <a:t>GOTCHA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5742432"/>
            <a:ext cx="96012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An unmatched &lt;filter&gt; is not an error and never triggers onException. And once handled=true the Exchange counts as successful, so REST still replies 200 - set CamelHttpResponseCode explicitly to change that.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Deliberately left out of the project as an exercise (see HANDOFF.md)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Following Every Step In The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The log is the best Camel tutorial there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5943600" cy="15544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camel-context.xml (the wiring file; runtime switches only work here)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5486400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&lt;camelContext id="camelSession0to1"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      useMDCLogging="true"     &lt;- routeId into the MDC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      useBreadcrumb="true"     &lt;- correlate across routes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      trace="false"            &lt;- turn on to trace every EIP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      streamCache="true"&gt;      &lt;- stream bodies stay re-readable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27248"/>
            <a:ext cx="5943600" cy="11887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29184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application.yml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5661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logging.pattern.console: 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%d{HH:mm:ss.SSS} %-5level [%15.15thread]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[route:%X{camel.routeId:-~}] %-40.40logger{39} : %msg%n</a:t>
            </a:r>
          </a:p>
        </p:txBody>
      </p:sp>
      <p:sp>
        <p:nvSpPr>
          <p:cNvPr id="13" name="Oval 12"/>
          <p:cNvSpPr/>
          <p:nvPr/>
        </p:nvSpPr>
        <p:spPr>
          <a:xfrm>
            <a:off x="6967728" y="1947672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1874519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&lt;log message="…"&gt;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2130551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The logger name is the routeId - ideal for route edges</a:t>
            </a:r>
          </a:p>
        </p:txBody>
      </p:sp>
      <p:sp>
        <p:nvSpPr>
          <p:cNvPr id="16" name="Oval 15"/>
          <p:cNvSpPr/>
          <p:nvPr/>
        </p:nvSpPr>
        <p:spPr>
          <a:xfrm>
            <a:off x="6967728" y="2601468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2528315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%X{camel.routeId}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2" y="2784347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Reads the current route id from the MDC</a:t>
            </a:r>
          </a:p>
        </p:txBody>
      </p:sp>
      <p:sp>
        <p:nvSpPr>
          <p:cNvPr id="19" name="Oval 18"/>
          <p:cNvSpPr/>
          <p:nvPr/>
        </p:nvSpPr>
        <p:spPr>
          <a:xfrm>
            <a:off x="6967728" y="3255263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82111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Thread names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3438143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Multicast / WireTap / task-N expose concurrency</a:t>
            </a:r>
          </a:p>
        </p:txBody>
      </p:sp>
      <p:sp>
        <p:nvSpPr>
          <p:cNvPr id="22" name="Oval 21"/>
          <p:cNvSpPr/>
          <p:nvPr/>
        </p:nvSpPr>
        <p:spPr>
          <a:xfrm>
            <a:off x="6967728" y="3909059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5472" y="3835907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trace="true"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4091939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Turn on to debug; every EIP node reports in (noisy)</a:t>
            </a:r>
          </a:p>
        </p:txBody>
      </p:sp>
      <p:sp>
        <p:nvSpPr>
          <p:cNvPr id="25" name="Oval 24"/>
          <p:cNvSpPr/>
          <p:nvPr/>
        </p:nvSpPr>
        <p:spPr>
          <a:xfrm>
            <a:off x="6967728" y="4562855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5472" y="4489703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exchangeId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4745736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Unique id of one request, correlating logs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394960"/>
            <a:ext cx="10954512" cy="694944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394960"/>
            <a:ext cx="50292" cy="694944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51383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Helvetica Neue"/>
              </a:rPr>
              <a:t>GOTCHA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38528" y="5513832"/>
            <a:ext cx="94914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Worth repeating: because the CamelContext comes from XML, nothing under camel.springboot.* takes effect - runtime switches must be attributes of &lt;camelContext&gt;.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MDC keeps concurrent logs readable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Java DSL To XML DSL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Most material online is Java DSL; translate it with this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19072"/>
          <a:ext cx="110642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563"/>
                <a:gridCol w="4536338"/>
                <a:gridCol w="4536338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Goal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Java DSL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XML DSL (this project)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Define a route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from("direct:a").routeId("r1")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Menlo"/>
                        </a:rPr>
                        <a:t>&lt;route id="r1"&gt;&lt;from uri="direct:a"/&gt;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Send a message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.to("direct:b")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Menlo"/>
                        </a:rPr>
                        <a:t>&lt;to uri="direct:b"/&gt;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Custom Java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.process(myProcessor)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Menlo"/>
                        </a:rPr>
                        <a:t>&lt;process ref="myProcessor"/&gt;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Log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.log("x=${body}")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Menlo"/>
                        </a:rPr>
                        <a:t>&lt;log message="x=${body}"/&gt;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Branch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.choice().when(simple(...)).otherwise()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Menlo"/>
                        </a:rPr>
                        <a:t>&lt;choice&gt;&lt;when&gt;&lt;simple&gt;…&lt;/simple&gt;&lt;/when&gt;&lt;otherwise&gt;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Filter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.filter(simple(...))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Menlo"/>
                        </a:rPr>
                        <a:t>&lt;filter&gt;&lt;simple&gt;…&lt;/simple&gt;…&lt;/filter&gt;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Fan out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.multicast().aggregationStrategy(s).parallelProcessing()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Menlo"/>
                        </a:rPr>
                        <a:t>&lt;multicast aggregationStrategy="s" parallelProcessing="true"&gt;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Split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.split(jsonpath("$.items")).aggregationStrategy(s)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Menlo"/>
                        </a:rPr>
                        <a:t>&lt;split aggregationStrategy="s"&gt;&lt;jsonpath&gt;$.items&lt;/jsonpath&gt;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Tap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.wireTap("direct:audit")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Menlo"/>
                        </a:rPr>
                        <a:t>&lt;wireTap uri="direct:audit"/&gt;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Helvetica Neue"/>
                        </a:rPr>
                        <a:t>Dynamic target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.toD("direct:item-${header.x}")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Menlo"/>
                        </a:rPr>
                        <a:t>&lt;toD uri="direct:item-${header.x}"/&gt;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687568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5687568"/>
            <a:ext cx="50292" cy="694944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80644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Helvetica Neue"/>
              </a:rPr>
              <a:t>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5806440"/>
            <a:ext cx="96012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The biggest gap is aggregationStrategy: a method taking an object in the Java DSL, an attribute taking a bean name in the Camel 4 XML DSL. The nested &lt;aggregationStrategy&gt; element you will see in older material no longer exists in 4.x.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Both DSLs build the same RouteDefinition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Checking That A Change Did Not Break Anything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Three layers: click through, script regression, unit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5852160" cy="2468879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5394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Three ways to verify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53949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# 1) Click through one by one (IntelliJ HTTP Client)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.idea/rest/API-requests.http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# 2) Replay all nine cases in one go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./test-apis.sh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./test-apis.sh other-host:8080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# 3) Unit tests (camel-test-spring-junit5 is already in the pom)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mvn test -Dtest=SomeTest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mvn test -Dtest=SomeTest#someMethod</a:t>
            </a:r>
          </a:p>
        </p:txBody>
      </p:sp>
      <p:sp>
        <p:nvSpPr>
          <p:cNvPr id="10" name="Oval 9"/>
          <p:cNvSpPr/>
          <p:nvPr/>
        </p:nvSpPr>
        <p:spPr>
          <a:xfrm>
            <a:off x="6784848" y="1947672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874519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Changed a 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2592" y="2130551"/>
            <a:ext cx="46085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./test-apis.sh - nine cases, both paths of all six APIs</a:t>
            </a:r>
          </a:p>
        </p:txBody>
      </p:sp>
      <p:sp>
        <p:nvSpPr>
          <p:cNvPr id="13" name="Oval 12"/>
          <p:cNvSpPr/>
          <p:nvPr/>
        </p:nvSpPr>
        <p:spPr>
          <a:xfrm>
            <a:off x="6784848" y="2816352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2592" y="2743200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Changed a score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2592" y="2999232"/>
            <a:ext cx="46085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Check both API-6 cases still split APPROVED / REJECTED</a:t>
            </a:r>
          </a:p>
        </p:txBody>
      </p:sp>
      <p:sp>
        <p:nvSpPr>
          <p:cNvPr id="16" name="Oval 15"/>
          <p:cNvSpPr/>
          <p:nvPr/>
        </p:nvSpPr>
        <p:spPr>
          <a:xfrm>
            <a:off x="6784848" y="3685032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3611880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Writing a unit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2592" y="3867912"/>
            <a:ext cx="46085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CamelSpringBootTest with mock:, or hit direct: directly</a:t>
            </a:r>
          </a:p>
        </p:txBody>
      </p:sp>
      <p:sp>
        <p:nvSpPr>
          <p:cNvPr id="19" name="Oval 18"/>
          <p:cNvSpPr/>
          <p:nvPr/>
        </p:nvSpPr>
        <p:spPr>
          <a:xfrm>
            <a:off x="6784848" y="4553712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4480559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Want to see an intermediate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2592" y="4736592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Drop a temporary &lt;log message="${body}"/&gt; 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32120"/>
            <a:ext cx="10954512" cy="694944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5532120"/>
            <a:ext cx="50292" cy="694944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565099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Helvetica Neue"/>
              </a:rPr>
              <a:t>NOTE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8528" y="5650992"/>
            <a:ext cx="94914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The scores here are designed: amount &lt;= 50000 gives 270 and passes, amount &gt; 60000 gives 165 and is rejected. If you change ScoreProcessor or RiskDecisionProcessor, move both lines together.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The same threshold contract is written down in CLAUDE.md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Every Tag Used In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One line each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55648"/>
          <a:ext cx="548640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Tag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In one line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&lt;camelContext&gt;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The runtime container; runtime switches are its attributes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&lt;routeContext&gt; / &lt;restContext&gt;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Route fragment containers, usable in separate imported files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&lt;routeContextRef&gt; / &lt;restContextRef&gt;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Wire a fragment in; must precede restConfiguration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&lt;restConfiguration&gt;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Global REST settings: component / bindingMode / CORS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&lt;rest&gt; &lt;post&gt;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Declare REST endpoints; &lt;post&gt; holds exactly one &lt;to&gt;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&lt;route&gt; &lt;from&gt;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One pipeline; &lt;from&gt; is its only entry point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&lt;to&gt; &lt;toD&gt;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Send a message; a &lt;toD&gt; URI is resolved at runtime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&lt;process&gt;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Insert custom Java (a Processor bean)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&lt;log&gt;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Declarative logging with Simple expressions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27648" y="1755648"/>
          <a:ext cx="5303519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7478"/>
                <a:gridCol w="3076041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Tag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In one line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&lt;choice&gt; &lt;when&gt; &lt;otherwise&gt;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Multi-way choice, first match wins; otherwise is the fallback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&lt;filter&gt;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 single guard; a miss skips its body but never ends the route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&lt;simple&gt; &lt;jsonpath&gt;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Two expression languages, usable as value or predicate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&lt;multicast&gt;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Copy to several targets; pair with aggregationStrategy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&lt;split&gt;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Split into children; pair with aggregationStrategy to collect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&lt;wireTap&gt;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An async tapped copy, fire and forget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&lt;setHeader&gt; &lt;setProperty&gt; &lt;setBody&gt;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Write a header / property / body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&lt;onException&gt; &lt;doTry&gt; &lt;doCatch&gt;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Error handling (left as an exercise here)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F172A"/>
                          </a:solidFill>
                          <a:latin typeface="Menlo"/>
                        </a:rPr>
                        <a:t>&lt;stop/&gt;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334155"/>
                          </a:solidFill>
                          <a:latin typeface="Helvetica Neue"/>
                        </a:rPr>
                        <a:t>Actually end processing of this Exchange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Full commentary lives in the fragment files under src/main/resources/camel/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Helvetica Neue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Helvetica Neue"/>
              </a:rPr>
              <a:t>Now Go Break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Helvetica Neue"/>
              </a:rPr>
              <a:t>Getting it running and then breaking it is the fastest way to learn Camel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852160" cy="21031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47672"/>
            <a:ext cx="5394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Helvetica Neue"/>
              </a:rPr>
              <a:t>Three commands to run all six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21991"/>
            <a:ext cx="5394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mvn clean package -DskipTests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java -jar target/camel-session-0to1-1.0.0-SNAPSHOT.jar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# in another terminal, replay all nine cases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./test-apis.sh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# or click through them in IntelliJ (with assertions)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.idea/rest/API-requests.http</a:t>
            </a:r>
          </a:p>
        </p:txBody>
      </p:sp>
      <p:sp>
        <p:nvSpPr>
          <p:cNvPr id="10" name="Oval 9"/>
          <p:cNvSpPr/>
          <p:nvPr/>
        </p:nvSpPr>
        <p:spPr>
          <a:xfrm>
            <a:off x="6784848" y="1883664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810512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Delete the aggregationStrategy from the multicast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2592" y="2066543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The reply falls back to the original payload</a:t>
            </a:r>
          </a:p>
        </p:txBody>
      </p:sp>
      <p:sp>
        <p:nvSpPr>
          <p:cNvPr id="13" name="Oval 12"/>
          <p:cNvSpPr/>
          <p:nvPr/>
        </p:nvSpPr>
        <p:spPr>
          <a:xfrm>
            <a:off x="6784848" y="2455163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2592" y="2382011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Replace the &lt;filter&gt; with &lt;choice&gt;&lt;when&gt;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2592" y="2638043"/>
            <a:ext cx="46085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Feel the difference between a guard and a choice</a:t>
            </a:r>
          </a:p>
        </p:txBody>
      </p:sp>
      <p:sp>
        <p:nvSpPr>
          <p:cNvPr id="16" name="Oval 15"/>
          <p:cNvSpPr/>
          <p:nvPr/>
        </p:nvSpPr>
        <p:spPr>
          <a:xfrm>
            <a:off x="6784848" y="3223259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3150107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Add an unknown item 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2592" y="3406139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See how toD collapses it onto direct:item-OTHER</a:t>
            </a:r>
          </a:p>
        </p:txBody>
      </p:sp>
      <p:sp>
        <p:nvSpPr>
          <p:cNvPr id="19" name="Oval 18"/>
          <p:cNvSpPr/>
          <p:nvPr/>
        </p:nvSpPr>
        <p:spPr>
          <a:xfrm>
            <a:off x="6784848" y="3794759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3721607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Set parallelProcessing to false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2592" y="3977639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Compare thread names and total latency</a:t>
            </a:r>
          </a:p>
        </p:txBody>
      </p:sp>
      <p:sp>
        <p:nvSpPr>
          <p:cNvPr id="22" name="Oval 21"/>
          <p:cNvSpPr/>
          <p:nvPr/>
        </p:nvSpPr>
        <p:spPr>
          <a:xfrm>
            <a:off x="6784848" y="4366259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22592" y="4293107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Turn trace="true"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2592" y="4549140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Watch Camel report in at every single EIP</a:t>
            </a:r>
          </a:p>
        </p:txBody>
      </p:sp>
      <p:sp>
        <p:nvSpPr>
          <p:cNvPr id="25" name="Oval 24"/>
          <p:cNvSpPr/>
          <p:nvPr/>
        </p:nvSpPr>
        <p:spPr>
          <a:xfrm>
            <a:off x="6784848" y="4937759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4864607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Helvetica Neue"/>
              </a:rPr>
              <a:t>Add an &lt;onException&gt;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2592" y="5120640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Helvetica Neue"/>
              </a:rPr>
              <a:t>Return 400 on a validation failure, not 500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23560"/>
            <a:ext cx="10954512" cy="694944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6350">
            <a:solidFill>
              <a:srgbClr val="D1F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623560"/>
            <a:ext cx="50292" cy="69494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742432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Helvetica Neue"/>
              </a:rPr>
              <a:t>TIP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38528" y="5742432"/>
            <a:ext cx="94914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Helvetica Neue"/>
              </a:rPr>
              <a:t>After breaking something, read the console: every processor, route and aggregation strategy in this project logs what it did, so symptoms and causes line up.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Helvetica Neue"/>
              </a:rPr>
              <a:t>Good luck · camel-session-0to1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